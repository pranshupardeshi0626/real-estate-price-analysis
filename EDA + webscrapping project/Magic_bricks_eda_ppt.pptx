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86" r:id="rId2"/>
    <p:sldId id="260" r:id="rId3"/>
    <p:sldId id="261" r:id="rId4"/>
    <p:sldId id="262" r:id="rId5"/>
    <p:sldId id="263" r:id="rId6"/>
    <p:sldId id="264" r:id="rId7"/>
    <p:sldId id="265" r:id="rId8"/>
    <p:sldId id="266" r:id="rId9"/>
    <p:sldId id="277" r:id="rId10"/>
    <p:sldId id="274" r:id="rId11"/>
    <p:sldId id="285" r:id="rId12"/>
    <p:sldId id="275" r:id="rId13"/>
    <p:sldId id="267" r:id="rId14"/>
    <p:sldId id="268" r:id="rId15"/>
    <p:sldId id="269" r:id="rId16"/>
    <p:sldId id="270" r:id="rId17"/>
    <p:sldId id="271" r:id="rId18"/>
    <p:sldId id="272" r:id="rId19"/>
    <p:sldId id="273" r:id="rId20"/>
    <p:sldId id="278" r:id="rId21"/>
    <p:sldId id="279" r:id="rId22"/>
    <p:sldId id="280" r:id="rId23"/>
    <p:sldId id="281" r:id="rId24"/>
    <p:sldId id="282" r:id="rId25"/>
    <p:sldId id="283" r:id="rId26"/>
    <p:sldId id="284" r:id="rId27"/>
    <p:sldId id="259" r:id="rId28"/>
  </p:sldIdLst>
  <p:sldSz cx="12192000" cy="6858000"/>
  <p:notesSz cx="6858000" cy="9144000"/>
  <p:embeddedFontLst>
    <p:embeddedFont>
      <p:font typeface="Libre Baskerville" panose="02000000000000000000" pitchFamily="2" charset="0"/>
      <p:regular r:id="rId30"/>
      <p:bold r:id="rId31"/>
      <p: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59" d="100"/>
          <a:sy n="59" d="100"/>
        </p:scale>
        <p:origin x="10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ranshupardeshi0626" TargetMode="External"/><Relationship Id="rId2" Type="http://schemas.openxmlformats.org/officeDocument/2006/relationships/hyperlink" Target="https://www.linkedin.com/in/pranshu-a-p-a9b3a327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magicbricks.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8;p1">
            <a:extLst>
              <a:ext uri="{FF2B5EF4-FFF2-40B4-BE49-F238E27FC236}">
                <a16:creationId xmlns:a16="http://schemas.microsoft.com/office/drawing/2014/main" id="{389DC2F6-EF02-01DD-C14A-B52D037F20A4}"/>
              </a:ext>
            </a:extLst>
          </p:cNvPr>
          <p:cNvPicPr preferRelativeResize="0"/>
          <p:nvPr/>
        </p:nvPicPr>
        <p:blipFill rotWithShape="1">
          <a:blip r:embed="rId2">
            <a:alphaModFix/>
          </a:blip>
          <a:srcRect/>
          <a:stretch/>
        </p:blipFill>
        <p:spPr>
          <a:xfrm>
            <a:off x="592" y="0"/>
            <a:ext cx="12190815" cy="6869944"/>
          </a:xfrm>
          <a:prstGeom prst="rect">
            <a:avLst/>
          </a:prstGeom>
          <a:noFill/>
          <a:ln>
            <a:noFill/>
          </a:ln>
        </p:spPr>
      </p:pic>
      <p:sp>
        <p:nvSpPr>
          <p:cNvPr id="3" name="TextBox 2">
            <a:extLst>
              <a:ext uri="{FF2B5EF4-FFF2-40B4-BE49-F238E27FC236}">
                <a16:creationId xmlns:a16="http://schemas.microsoft.com/office/drawing/2014/main" id="{E68FB310-58C4-09D0-E281-6DABCE1A5703}"/>
              </a:ext>
            </a:extLst>
          </p:cNvPr>
          <p:cNvSpPr txBox="1"/>
          <p:nvPr/>
        </p:nvSpPr>
        <p:spPr>
          <a:xfrm>
            <a:off x="3287483" y="3678825"/>
            <a:ext cx="5617029" cy="1261884"/>
          </a:xfrm>
          <a:prstGeom prst="rect">
            <a:avLst/>
          </a:prstGeom>
          <a:noFill/>
        </p:spPr>
        <p:txBody>
          <a:bodyPr wrap="square" rtlCol="0">
            <a:spAutoFit/>
          </a:bodyPr>
          <a:lstStyle/>
          <a:p>
            <a:pPr algn="ctr"/>
            <a:r>
              <a:rPr lang="en-IN" sz="2800" b="1" dirty="0">
                <a:latin typeface="Times New Roman"/>
                <a:ea typeface="Calibri"/>
                <a:cs typeface="Times New Roman"/>
              </a:rPr>
              <a:t>EDA On Magic Bricks</a:t>
            </a:r>
          </a:p>
          <a:p>
            <a:pPr algn="ctr"/>
            <a:endParaRPr lang="en-IN" sz="2400" b="1" dirty="0">
              <a:latin typeface="Times New Roman"/>
              <a:ea typeface="Calibri"/>
              <a:cs typeface="Times New Roman"/>
            </a:endParaRPr>
          </a:p>
          <a:p>
            <a:pPr algn="ctr"/>
            <a:endParaRPr lang="en-IN" sz="2400" dirty="0"/>
          </a:p>
        </p:txBody>
      </p:sp>
      <p:sp>
        <p:nvSpPr>
          <p:cNvPr id="4" name="TextBox 3">
            <a:extLst>
              <a:ext uri="{FF2B5EF4-FFF2-40B4-BE49-F238E27FC236}">
                <a16:creationId xmlns:a16="http://schemas.microsoft.com/office/drawing/2014/main" id="{813956A7-8517-BBB2-8A86-65838653A627}"/>
              </a:ext>
            </a:extLst>
          </p:cNvPr>
          <p:cNvSpPr txBox="1"/>
          <p:nvPr/>
        </p:nvSpPr>
        <p:spPr>
          <a:xfrm>
            <a:off x="4256312" y="4797331"/>
            <a:ext cx="3679372" cy="677108"/>
          </a:xfrm>
          <a:prstGeom prst="rect">
            <a:avLst/>
          </a:prstGeom>
          <a:noFill/>
        </p:spPr>
        <p:txBody>
          <a:bodyPr wrap="square" rtlCol="0">
            <a:spAutoFit/>
          </a:bodyPr>
          <a:lstStyle/>
          <a:p>
            <a:pPr algn="ctr"/>
            <a:r>
              <a:rPr lang="en-US" sz="1800" b="1" dirty="0">
                <a:solidFill>
                  <a:srgbClr val="C00000"/>
                </a:solidFill>
                <a:latin typeface="Times New Roman" panose="02020603050405020304" pitchFamily="18" charset="0"/>
                <a:cs typeface="Times New Roman" panose="02020603050405020304" pitchFamily="18" charset="0"/>
              </a:rPr>
              <a:t>Presented By:</a:t>
            </a:r>
            <a:endParaRPr lang="en-US" sz="18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Pranshu Pardeshi</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3327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6CD6F4-AE36-9219-A71C-FDE3A172023A}"/>
              </a:ext>
            </a:extLst>
          </p:cNvPr>
          <p:cNvSpPr txBox="1"/>
          <p:nvPr/>
        </p:nvSpPr>
        <p:spPr>
          <a:xfrm>
            <a:off x="849087" y="457200"/>
            <a:ext cx="10428514" cy="4893647"/>
          </a:xfrm>
          <a:prstGeom prst="rect">
            <a:avLst/>
          </a:prstGeom>
          <a:noFill/>
        </p:spPr>
        <p:txBody>
          <a:bodyPr wrap="square" rtlCol="0">
            <a:spAutoFit/>
          </a:bodyPr>
          <a:lstStyle/>
          <a:p>
            <a:pPr algn="ctr"/>
            <a:r>
              <a:rPr lang="en-IN" sz="2800" b="1" dirty="0">
                <a:solidFill>
                  <a:srgbClr val="FF0000"/>
                </a:solidFill>
              </a:rPr>
              <a:t>About me</a:t>
            </a:r>
          </a:p>
          <a:p>
            <a:pPr algn="ctr"/>
            <a:endParaRPr lang="en-IN" sz="2000" dirty="0">
              <a:solidFill>
                <a:srgbClr val="FF0000"/>
              </a:solidFill>
            </a:endParaRPr>
          </a:p>
          <a:p>
            <a:pPr lvl="0" fontAlgn="base"/>
            <a:r>
              <a:rPr lang="en-IN" sz="2000" b="1" dirty="0"/>
              <a:t>Educational Background </a:t>
            </a:r>
            <a:r>
              <a:rPr lang="en-IN" sz="2000" dirty="0"/>
              <a:t>: Bachelors of Computer Application (2025).</a:t>
            </a:r>
          </a:p>
          <a:p>
            <a:pPr lvl="0" fontAlgn="base"/>
            <a:endParaRPr lang="en-IN" sz="2000" dirty="0"/>
          </a:p>
          <a:p>
            <a:pPr lvl="0" fontAlgn="base"/>
            <a:r>
              <a:rPr lang="en-IN" sz="2000" b="1" dirty="0"/>
              <a:t>Want to learn Data Science because </a:t>
            </a:r>
            <a:r>
              <a:rPr lang="en-IN" sz="2000" dirty="0"/>
              <a:t>it allows me to turn raw data into meaningful insights that can solve real-world problems. In today’s digital world, data is everywhere, and I’m interested in understanding patterns, trends, and making data-driven decisions rather than relying on assumptions.</a:t>
            </a:r>
          </a:p>
          <a:p>
            <a:pPr lvl="0" fontAlgn="base"/>
            <a:endParaRPr lang="en-IN" sz="2000" dirty="0"/>
          </a:p>
          <a:p>
            <a:pPr lvl="0" fontAlgn="base"/>
            <a:r>
              <a:rPr lang="en-IN" sz="2000" b="1" dirty="0"/>
              <a:t>Experience </a:t>
            </a:r>
            <a:r>
              <a:rPr lang="en-IN" sz="2000" dirty="0"/>
              <a:t>: No</a:t>
            </a:r>
          </a:p>
          <a:p>
            <a:pPr lvl="0" fontAlgn="base"/>
            <a:endParaRPr lang="en-IN" sz="2000" dirty="0"/>
          </a:p>
          <a:p>
            <a:pPr lvl="0" fontAlgn="base"/>
            <a:r>
              <a:rPr lang="en-IN" sz="2000" b="1" dirty="0" err="1"/>
              <a:t>Linkdin</a:t>
            </a:r>
            <a:r>
              <a:rPr lang="en-IN" sz="2000" b="1" dirty="0"/>
              <a:t> </a:t>
            </a:r>
            <a:r>
              <a:rPr lang="en-IN" sz="2000" dirty="0"/>
              <a:t>:  </a:t>
            </a:r>
            <a:r>
              <a:rPr lang="en-IN" sz="2000" dirty="0">
                <a:hlinkClick r:id="rId2"/>
              </a:rPr>
              <a:t>https://www.linkedin.com/in/pranshu</a:t>
            </a:r>
            <a:r>
              <a:rPr lang="en-IN" sz="2000" u="sng" dirty="0">
                <a:hlinkClick r:id="rId2"/>
              </a:rPr>
              <a:t>-</a:t>
            </a:r>
            <a:r>
              <a:rPr lang="en-IN" sz="2000" dirty="0">
                <a:hlinkClick r:id="rId2"/>
              </a:rPr>
              <a:t>a-p</a:t>
            </a:r>
            <a:r>
              <a:rPr lang="en-IN" sz="2000" u="sng" dirty="0">
                <a:hlinkClick r:id="rId2"/>
              </a:rPr>
              <a:t>-</a:t>
            </a:r>
            <a:r>
              <a:rPr lang="en-IN" sz="2000" dirty="0">
                <a:hlinkClick r:id="rId2"/>
              </a:rPr>
              <a:t>a9b3a3271/</a:t>
            </a:r>
            <a:endParaRPr lang="en-IN" sz="2000" dirty="0"/>
          </a:p>
          <a:p>
            <a:pPr lvl="0" fontAlgn="base"/>
            <a:endParaRPr lang="en-IN" sz="2000" dirty="0"/>
          </a:p>
          <a:p>
            <a:pPr lvl="0" fontAlgn="base"/>
            <a:r>
              <a:rPr lang="en-IN" sz="2000" b="1" dirty="0" err="1"/>
              <a:t>Github</a:t>
            </a:r>
            <a:r>
              <a:rPr lang="en-IN" sz="2000" b="1" dirty="0"/>
              <a:t>: </a:t>
            </a:r>
            <a:r>
              <a:rPr lang="en-IN" sz="2000" dirty="0">
                <a:hlinkClick r:id="rId3"/>
              </a:rPr>
              <a:t>https://github.com/pranshupardeshi0626</a:t>
            </a:r>
            <a:endParaRPr lang="en-IN" sz="3200" b="1" dirty="0"/>
          </a:p>
          <a:p>
            <a:endParaRPr lang="en-IN" sz="2000" dirty="0"/>
          </a:p>
        </p:txBody>
      </p:sp>
    </p:spTree>
    <p:extLst>
      <p:ext uri="{BB962C8B-B14F-4D97-AF65-F5344CB8AC3E}">
        <p14:creationId xmlns:p14="http://schemas.microsoft.com/office/powerpoint/2010/main" val="26429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65F213-A03B-ECF1-AF39-0C903C1429E5}"/>
              </a:ext>
            </a:extLst>
          </p:cNvPr>
          <p:cNvSpPr txBox="1"/>
          <p:nvPr/>
        </p:nvSpPr>
        <p:spPr>
          <a:xfrm>
            <a:off x="1023257" y="979715"/>
            <a:ext cx="10450285" cy="3016210"/>
          </a:xfrm>
          <a:prstGeom prst="rect">
            <a:avLst/>
          </a:prstGeom>
          <a:noFill/>
        </p:spPr>
        <p:txBody>
          <a:bodyPr wrap="square" rtlCol="0">
            <a:spAutoFit/>
          </a:bodyPr>
          <a:lstStyle/>
          <a:p>
            <a:pPr algn="ctr"/>
            <a:r>
              <a:rPr lang="en-IN" sz="2800" b="1" dirty="0">
                <a:solidFill>
                  <a:srgbClr val="FF0000"/>
                </a:solidFill>
              </a:rPr>
              <a:t>Business Problem</a:t>
            </a:r>
          </a:p>
          <a:p>
            <a:pPr algn="ctr"/>
            <a:endParaRPr lang="en-IN" sz="2800" b="1" dirty="0">
              <a:solidFill>
                <a:srgbClr val="FF0000"/>
              </a:solidFill>
            </a:endParaRPr>
          </a:p>
          <a:p>
            <a:r>
              <a:rPr lang="en-IN" sz="2000" dirty="0"/>
              <a:t>The real estate market lacks transparency, making it difficult for buyers, sellers, and investors to determine the fair price of a property. Property prices vary significantly based on factors such as location, square footage, number of bedrooms (BHK), and amenities.</a:t>
            </a:r>
          </a:p>
          <a:p>
            <a:endParaRPr lang="en-IN" sz="2000" dirty="0"/>
          </a:p>
          <a:p>
            <a:r>
              <a:rPr lang="en-IN" sz="2000" dirty="0"/>
              <a:t>The goal is to analyse housing data to identify key factors affecting property prices and build insights that help stakeholders make data-driven decisions.</a:t>
            </a:r>
          </a:p>
          <a:p>
            <a:endParaRPr lang="en-IN" dirty="0"/>
          </a:p>
        </p:txBody>
      </p:sp>
    </p:spTree>
    <p:extLst>
      <p:ext uri="{BB962C8B-B14F-4D97-AF65-F5344CB8AC3E}">
        <p14:creationId xmlns:p14="http://schemas.microsoft.com/office/powerpoint/2010/main" val="280382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EAFE75-3148-8F82-0CE1-F587E4B762CE}"/>
              </a:ext>
            </a:extLst>
          </p:cNvPr>
          <p:cNvSpPr txBox="1"/>
          <p:nvPr/>
        </p:nvSpPr>
        <p:spPr>
          <a:xfrm>
            <a:off x="1023257" y="805543"/>
            <a:ext cx="10145486" cy="5078313"/>
          </a:xfrm>
          <a:prstGeom prst="rect">
            <a:avLst/>
          </a:prstGeom>
          <a:noFill/>
        </p:spPr>
        <p:txBody>
          <a:bodyPr wrap="square" rtlCol="0">
            <a:spAutoFit/>
          </a:bodyPr>
          <a:lstStyle/>
          <a:p>
            <a:pPr algn="ctr"/>
            <a:r>
              <a:rPr lang="en-IN" sz="2800" b="1" dirty="0">
                <a:solidFill>
                  <a:srgbClr val="FF0000"/>
                </a:solidFill>
              </a:rPr>
              <a:t>Use Cases</a:t>
            </a:r>
            <a:endParaRPr lang="en-IN" sz="2800" dirty="0">
              <a:solidFill>
                <a:srgbClr val="FF0000"/>
              </a:solidFill>
            </a:endParaRPr>
          </a:p>
          <a:p>
            <a:endParaRPr lang="en-IN" b="1" dirty="0"/>
          </a:p>
          <a:p>
            <a:endParaRPr lang="en-IN" b="1" dirty="0"/>
          </a:p>
          <a:p>
            <a:endParaRPr lang="en-IN" b="1" dirty="0"/>
          </a:p>
          <a:p>
            <a:r>
              <a:rPr lang="en-IN" sz="2000" b="1" dirty="0"/>
              <a:t>1. Price Prediction :</a:t>
            </a:r>
            <a:endParaRPr lang="en-IN" sz="2000" dirty="0"/>
          </a:p>
          <a:p>
            <a:pPr lvl="0" fontAlgn="base"/>
            <a:r>
              <a:rPr lang="en-IN" sz="2000" dirty="0"/>
              <a:t>Estimate the price of a property based on features like BHK, location, square foot, and amenities.</a:t>
            </a:r>
          </a:p>
          <a:p>
            <a:pPr lvl="0" fontAlgn="base"/>
            <a:r>
              <a:rPr lang="en-IN" sz="2000" dirty="0"/>
              <a:t>Helps buyers and sellers decide a fair price.</a:t>
            </a:r>
          </a:p>
          <a:p>
            <a:pPr lvl="0" fontAlgn="base"/>
            <a:endParaRPr lang="en-IN" sz="2000" dirty="0"/>
          </a:p>
          <a:p>
            <a:r>
              <a:rPr lang="en-IN" sz="2000" b="1" dirty="0"/>
              <a:t>2. City-Based Insights :</a:t>
            </a:r>
            <a:endParaRPr lang="en-IN" sz="2000" dirty="0"/>
          </a:p>
          <a:p>
            <a:pPr lvl="0" fontAlgn="base"/>
            <a:r>
              <a:rPr lang="en-IN" sz="2000" dirty="0"/>
              <a:t>Analyse how property prices vary across different cities.</a:t>
            </a:r>
          </a:p>
          <a:p>
            <a:pPr lvl="0" fontAlgn="base"/>
            <a:r>
              <a:rPr lang="en-IN" sz="2000" dirty="0"/>
              <a:t>Helps users identify expensive vs affordable  cities.</a:t>
            </a:r>
          </a:p>
          <a:p>
            <a:pPr lvl="0" fontAlgn="base"/>
            <a:endParaRPr lang="en-IN" sz="2000" dirty="0"/>
          </a:p>
          <a:p>
            <a:r>
              <a:rPr lang="en-IN" sz="2000" b="1" dirty="0"/>
              <a:t>3. Real Estate Investment Decisions :</a:t>
            </a:r>
            <a:endParaRPr lang="en-IN" sz="2000" dirty="0"/>
          </a:p>
          <a:p>
            <a:pPr lvl="0" fontAlgn="base"/>
            <a:r>
              <a:rPr lang="en-IN" sz="2000" dirty="0"/>
              <a:t>Identify high-growth areas and profitable investment opportunities.</a:t>
            </a:r>
          </a:p>
          <a:p>
            <a:pPr lvl="0" fontAlgn="base"/>
            <a:r>
              <a:rPr lang="en-IN" sz="2000" dirty="0"/>
              <a:t>Useful for investors to maximize returns.</a:t>
            </a:r>
          </a:p>
          <a:p>
            <a:endParaRPr lang="en-IN" dirty="0"/>
          </a:p>
        </p:txBody>
      </p:sp>
    </p:spTree>
    <p:extLst>
      <p:ext uri="{BB962C8B-B14F-4D97-AF65-F5344CB8AC3E}">
        <p14:creationId xmlns:p14="http://schemas.microsoft.com/office/powerpoint/2010/main" val="1674573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2DF180-B433-E454-33ED-6847104605C6}"/>
              </a:ext>
            </a:extLst>
          </p:cNvPr>
          <p:cNvSpPr txBox="1"/>
          <p:nvPr/>
        </p:nvSpPr>
        <p:spPr>
          <a:xfrm>
            <a:off x="1317171" y="838200"/>
            <a:ext cx="9808028" cy="5324535"/>
          </a:xfrm>
          <a:prstGeom prst="rect">
            <a:avLst/>
          </a:prstGeom>
          <a:noFill/>
        </p:spPr>
        <p:txBody>
          <a:bodyPr wrap="square" rtlCol="0">
            <a:spAutoFit/>
          </a:bodyPr>
          <a:lstStyle/>
          <a:p>
            <a:pPr algn="ctr"/>
            <a:r>
              <a:rPr lang="en-IN" sz="2800" b="1" dirty="0">
                <a:solidFill>
                  <a:srgbClr val="FF0000"/>
                </a:solidFill>
                <a:latin typeface="Times New Roman" panose="02020603050405020304" pitchFamily="18" charset="0"/>
                <a:cs typeface="Times New Roman" panose="02020603050405020304" pitchFamily="18" charset="0"/>
              </a:rPr>
              <a:t>Objectives</a:t>
            </a:r>
          </a:p>
          <a:p>
            <a:pPr algn="ctr"/>
            <a:endParaRPr lang="en-IN" sz="2800" b="1" dirty="0">
              <a:solidFill>
                <a:srgbClr val="FF0000"/>
              </a:solidFill>
            </a:endParaRPr>
          </a:p>
          <a:p>
            <a:pPr marL="342900" lvl="0" indent="-342900" fontAlgn="base">
              <a:buFont typeface="Arial" panose="020B0604020202020204" pitchFamily="34" charset="0"/>
              <a:buChar char="•"/>
            </a:pPr>
            <a:r>
              <a:rPr lang="en-IN" sz="2000" dirty="0"/>
              <a:t>To understand the relationship between property features (BHK, square foot, City) and price.</a:t>
            </a:r>
          </a:p>
          <a:p>
            <a:pPr marL="342900" lvl="0" indent="-342900" fontAlgn="base">
              <a:buFont typeface="Arial" panose="020B0604020202020204" pitchFamily="34" charset="0"/>
              <a:buChar char="•"/>
            </a:pPr>
            <a:endParaRPr lang="en-IN" sz="2000" dirty="0"/>
          </a:p>
          <a:p>
            <a:pPr marL="342900" lvl="0" indent="-342900" fontAlgn="base">
              <a:buFont typeface="Arial" panose="020B0604020202020204" pitchFamily="34" charset="0"/>
              <a:buChar char="•"/>
            </a:pPr>
            <a:r>
              <a:rPr lang="en-IN" sz="2000" dirty="0"/>
              <a:t>To clean and preprocess the dataset by handling missing values and outliers.</a:t>
            </a:r>
          </a:p>
          <a:p>
            <a:pPr marL="342900" lvl="0" indent="-342900" fontAlgn="base">
              <a:buFont typeface="Arial" panose="020B0604020202020204" pitchFamily="34" charset="0"/>
              <a:buChar char="•"/>
            </a:pPr>
            <a:endParaRPr lang="en-IN" sz="2000" dirty="0"/>
          </a:p>
          <a:p>
            <a:pPr marL="342900" lvl="0" indent="-342900" fontAlgn="base">
              <a:buFont typeface="Arial" panose="020B0604020202020204" pitchFamily="34" charset="0"/>
              <a:buChar char="•"/>
            </a:pPr>
            <a:r>
              <a:rPr lang="en-IN" sz="2000" dirty="0"/>
              <a:t>To identify important variables that impact housing prices.</a:t>
            </a:r>
          </a:p>
          <a:p>
            <a:pPr marL="342900" lvl="0" indent="-342900" fontAlgn="base">
              <a:buFont typeface="Arial" panose="020B0604020202020204" pitchFamily="34" charset="0"/>
              <a:buChar char="•"/>
            </a:pPr>
            <a:endParaRPr lang="en-IN" sz="2000" dirty="0"/>
          </a:p>
          <a:p>
            <a:pPr marL="342900" lvl="0" indent="-342900" fontAlgn="base">
              <a:buFont typeface="Arial" panose="020B0604020202020204" pitchFamily="34" charset="0"/>
              <a:buChar char="•"/>
            </a:pPr>
            <a:r>
              <a:rPr lang="en-IN" sz="2000" dirty="0"/>
              <a:t>To perform exploratory data analysis (EDA) to uncover patterns and trends.</a:t>
            </a:r>
          </a:p>
          <a:p>
            <a:pPr marL="342900" lvl="0" indent="-342900" fontAlgn="base">
              <a:buFont typeface="Arial" panose="020B0604020202020204" pitchFamily="34" charset="0"/>
              <a:buChar char="•"/>
            </a:pPr>
            <a:endParaRPr lang="en-IN" sz="2000" dirty="0"/>
          </a:p>
          <a:p>
            <a:pPr marL="342900" lvl="0" indent="-342900" fontAlgn="base">
              <a:buFont typeface="Arial" panose="020B0604020202020204" pitchFamily="34" charset="0"/>
              <a:buChar char="•"/>
            </a:pPr>
            <a:r>
              <a:rPr lang="en-IN" sz="2000" dirty="0"/>
              <a:t>To visualize data for better interpretation and insights.</a:t>
            </a:r>
          </a:p>
          <a:p>
            <a:pPr marL="342900" lvl="0" indent="-342900" fontAlgn="base">
              <a:buFont typeface="Arial" panose="020B0604020202020204" pitchFamily="34" charset="0"/>
              <a:buChar char="•"/>
            </a:pPr>
            <a:endParaRPr lang="en-IN" sz="3200" dirty="0"/>
          </a:p>
          <a:p>
            <a:pPr marL="342900" indent="-342900" fontAlgn="base">
              <a:buFont typeface="Arial" panose="020B0604020202020204" pitchFamily="34" charset="0"/>
              <a:buChar char="•"/>
            </a:pPr>
            <a:r>
              <a:rPr lang="en-IN" sz="2000" dirty="0"/>
              <a:t>To support buyers, sellers, and investors with actionable insights.</a:t>
            </a:r>
          </a:p>
          <a:p>
            <a:pPr marL="342900" lvl="0" indent="-342900" fontAlgn="base">
              <a:buFont typeface="Arial" panose="020B0604020202020204" pitchFamily="34" charset="0"/>
              <a:buChar char="•"/>
            </a:pPr>
            <a:endParaRPr lang="en-IN" sz="2000" dirty="0"/>
          </a:p>
          <a:p>
            <a:endParaRPr lang="en-IN" dirty="0"/>
          </a:p>
        </p:txBody>
      </p:sp>
    </p:spTree>
    <p:extLst>
      <p:ext uri="{BB962C8B-B14F-4D97-AF65-F5344CB8AC3E}">
        <p14:creationId xmlns:p14="http://schemas.microsoft.com/office/powerpoint/2010/main" val="341541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0FE829-3C0B-0A9B-BE75-6DCBDE1A67C2}"/>
              </a:ext>
            </a:extLst>
          </p:cNvPr>
          <p:cNvSpPr txBox="1"/>
          <p:nvPr/>
        </p:nvSpPr>
        <p:spPr>
          <a:xfrm>
            <a:off x="1360714" y="446314"/>
            <a:ext cx="9808029" cy="738664"/>
          </a:xfrm>
          <a:prstGeom prst="rect">
            <a:avLst/>
          </a:prstGeom>
          <a:noFill/>
        </p:spPr>
        <p:txBody>
          <a:bodyPr wrap="square" rtlCol="0">
            <a:spAutoFit/>
          </a:bodyPr>
          <a:lstStyle/>
          <a:p>
            <a:pPr algn="ctr"/>
            <a:r>
              <a:rPr lang="en-IN" sz="2800" b="1" dirty="0">
                <a:solidFill>
                  <a:srgbClr val="FF0000"/>
                </a:solidFill>
                <a:latin typeface="Times New Roman"/>
                <a:cs typeface="Times New Roman"/>
              </a:rPr>
              <a:t>Web Scraping</a:t>
            </a:r>
          </a:p>
          <a:p>
            <a:endParaRPr lang="en-IN" dirty="0"/>
          </a:p>
        </p:txBody>
      </p:sp>
      <p:sp>
        <p:nvSpPr>
          <p:cNvPr id="3" name="TextBox 2">
            <a:extLst>
              <a:ext uri="{FF2B5EF4-FFF2-40B4-BE49-F238E27FC236}">
                <a16:creationId xmlns:a16="http://schemas.microsoft.com/office/drawing/2014/main" id="{0FA924ED-9AC1-9DA7-CA5F-96AE55A42B20}"/>
              </a:ext>
            </a:extLst>
          </p:cNvPr>
          <p:cNvSpPr txBox="1"/>
          <p:nvPr/>
        </p:nvSpPr>
        <p:spPr>
          <a:xfrm>
            <a:off x="1023257" y="920621"/>
            <a:ext cx="10058401" cy="5232202"/>
          </a:xfrm>
          <a:prstGeom prst="rect">
            <a:avLst/>
          </a:prstGeom>
          <a:noFill/>
        </p:spPr>
        <p:txBody>
          <a:bodyPr wrap="square" rtlCol="0">
            <a:spAutoFit/>
          </a:bodyPr>
          <a:lstStyle/>
          <a:p>
            <a:pPr algn="just"/>
            <a:r>
              <a:rPr lang="en-US" sz="2000" b="1" dirty="0">
                <a:latin typeface="Arial "/>
                <a:cs typeface="Times New Roman"/>
              </a:rPr>
              <a:t>Website Used:</a:t>
            </a:r>
          </a:p>
          <a:p>
            <a:pPr algn="just"/>
            <a:endParaRPr lang="en-US" sz="2000" dirty="0">
              <a:latin typeface="Arial "/>
              <a:cs typeface="Times New Roman"/>
            </a:endParaRPr>
          </a:p>
          <a:p>
            <a:pPr marL="285750" indent="-285750" algn="just">
              <a:buChar char="•"/>
            </a:pPr>
            <a:r>
              <a:rPr lang="en-US" sz="2000" dirty="0">
                <a:latin typeface="Arial "/>
                <a:cs typeface="Times New Roman"/>
              </a:rPr>
              <a:t>Data was collected from Magic Bricks (house buying website)</a:t>
            </a:r>
          </a:p>
          <a:p>
            <a:pPr marL="285750" indent="-285750" algn="just">
              <a:buChar char="•"/>
            </a:pPr>
            <a:r>
              <a:rPr lang="en-US" sz="2000" dirty="0">
                <a:latin typeface="Arial "/>
                <a:cs typeface="Times New Roman"/>
              </a:rPr>
              <a:t>URL :- </a:t>
            </a:r>
            <a:r>
              <a:rPr lang="en-US" sz="2000" dirty="0">
                <a:hlinkClick r:id="rId2"/>
              </a:rPr>
              <a:t>Real Estate | Property in India | Buy/Sale/Rent Properties | </a:t>
            </a:r>
            <a:r>
              <a:rPr lang="en-US" sz="2000" dirty="0" err="1">
                <a:hlinkClick r:id="rId2"/>
              </a:rPr>
              <a:t>MagicBricks</a:t>
            </a:r>
            <a:endParaRPr lang="en-US" sz="2000" dirty="0">
              <a:latin typeface="Arial "/>
              <a:cs typeface="Times New Roman"/>
            </a:endParaRPr>
          </a:p>
          <a:p>
            <a:pPr marL="285750" indent="-285750" algn="just">
              <a:buChar char="•"/>
            </a:pPr>
            <a:r>
              <a:rPr lang="en-US" sz="2000" b="1" dirty="0">
                <a:latin typeface="Arial "/>
                <a:cs typeface="Times New Roman"/>
              </a:rPr>
              <a:t>Tools &amp; Technologies:</a:t>
            </a:r>
          </a:p>
          <a:p>
            <a:pPr marL="285750" indent="-285750" algn="just">
              <a:buChar char="•"/>
            </a:pPr>
            <a:endParaRPr lang="en-US" sz="2000" dirty="0">
              <a:latin typeface="Arial "/>
              <a:cs typeface="Times New Roman"/>
            </a:endParaRPr>
          </a:p>
          <a:p>
            <a:pPr marL="285750" indent="-285750" algn="just">
              <a:buChar char="•"/>
            </a:pPr>
            <a:r>
              <a:rPr lang="en-US" sz="2000" dirty="0">
                <a:latin typeface="Arial "/>
                <a:cs typeface="Times New Roman"/>
              </a:rPr>
              <a:t>Requests (for sending HTTP requests)</a:t>
            </a:r>
          </a:p>
          <a:p>
            <a:pPr marL="285750" indent="-285750" algn="just">
              <a:buChar char="•"/>
            </a:pPr>
            <a:r>
              <a:rPr lang="en-US" sz="2000" dirty="0" err="1">
                <a:latin typeface="Arial "/>
                <a:cs typeface="Times New Roman"/>
              </a:rPr>
              <a:t>BeautifulSoup</a:t>
            </a:r>
            <a:r>
              <a:rPr lang="en-US" sz="2000" dirty="0">
                <a:latin typeface="Arial "/>
                <a:cs typeface="Times New Roman"/>
              </a:rPr>
              <a:t> (for parsing HTML data)</a:t>
            </a:r>
          </a:p>
          <a:p>
            <a:pPr marL="285750" indent="-285750" algn="just">
              <a:buChar char="•"/>
            </a:pPr>
            <a:endParaRPr lang="en-US" sz="2000" dirty="0">
              <a:latin typeface="Arial "/>
            </a:endParaRPr>
          </a:p>
          <a:p>
            <a:pPr marL="0" indent="0" algn="just"/>
            <a:r>
              <a:rPr lang="en-US" sz="2000" b="1" dirty="0">
                <a:latin typeface="Arial "/>
                <a:cs typeface="Times New Roman"/>
              </a:rPr>
              <a:t>Process Followed:</a:t>
            </a:r>
            <a:endParaRPr lang="en-US" sz="2000" dirty="0">
              <a:latin typeface="Arial "/>
              <a:cs typeface="Times New Roman"/>
            </a:endParaRPr>
          </a:p>
          <a:p>
            <a:pPr marL="285750" indent="-285750" algn="just">
              <a:buChar char="•"/>
            </a:pPr>
            <a:r>
              <a:rPr lang="en-US" sz="2000" dirty="0">
                <a:latin typeface="Arial "/>
                <a:cs typeface="Times New Roman"/>
              </a:rPr>
              <a:t>Sent request to the website using Python</a:t>
            </a:r>
          </a:p>
          <a:p>
            <a:pPr marL="285750" indent="-285750" algn="just">
              <a:buChar char="•"/>
            </a:pPr>
            <a:r>
              <a:rPr lang="en-US" sz="2000" dirty="0">
                <a:latin typeface="Arial "/>
                <a:cs typeface="Times New Roman"/>
              </a:rPr>
              <a:t>Collected HTML content of web pages</a:t>
            </a:r>
          </a:p>
          <a:p>
            <a:pPr marL="285750" indent="-285750" algn="just">
              <a:buChar char="•"/>
            </a:pPr>
            <a:r>
              <a:rPr lang="en-US" sz="2000" dirty="0">
                <a:latin typeface="Arial "/>
                <a:cs typeface="Times New Roman"/>
              </a:rPr>
              <a:t>Parsed the data using </a:t>
            </a:r>
            <a:r>
              <a:rPr lang="en-US" sz="2000" dirty="0" err="1">
                <a:latin typeface="Arial "/>
                <a:cs typeface="Times New Roman"/>
              </a:rPr>
              <a:t>BeautifulSoup</a:t>
            </a:r>
            <a:endParaRPr lang="en-US" sz="2000" dirty="0">
              <a:latin typeface="Arial "/>
              <a:cs typeface="Times New Roman"/>
            </a:endParaRPr>
          </a:p>
          <a:p>
            <a:pPr marL="285750" indent="-285750" algn="just">
              <a:buChar char="•"/>
            </a:pPr>
            <a:r>
              <a:rPr lang="en-US" sz="2000" dirty="0">
                <a:latin typeface="Arial "/>
                <a:cs typeface="Times New Roman"/>
              </a:rPr>
              <a:t>Extracted required fields (</a:t>
            </a:r>
            <a:r>
              <a:rPr lang="en-US" sz="2000" dirty="0" err="1">
                <a:latin typeface="Arial "/>
                <a:cs typeface="Times New Roman"/>
              </a:rPr>
              <a:t>society_name</a:t>
            </a:r>
            <a:r>
              <a:rPr lang="en-US" sz="2000" dirty="0">
                <a:latin typeface="Arial "/>
                <a:cs typeface="Times New Roman"/>
              </a:rPr>
              <a:t>, </a:t>
            </a:r>
            <a:r>
              <a:rPr lang="en-US" sz="2000" dirty="0" err="1">
                <a:latin typeface="Arial "/>
                <a:cs typeface="Times New Roman"/>
              </a:rPr>
              <a:t>bhk,sqft,price</a:t>
            </a:r>
            <a:r>
              <a:rPr lang="en-US" sz="2000" dirty="0">
                <a:latin typeface="Arial "/>
                <a:cs typeface="Times New Roman"/>
              </a:rPr>
              <a:t> etc.)</a:t>
            </a:r>
          </a:p>
          <a:p>
            <a:pPr marL="285750" indent="-285750" algn="just">
              <a:buChar char="•"/>
            </a:pPr>
            <a:r>
              <a:rPr lang="en-US" sz="2000" dirty="0">
                <a:latin typeface="Arial "/>
                <a:cs typeface="Times New Roman"/>
              </a:rPr>
              <a:t>Stored the data into a structured format (</a:t>
            </a:r>
            <a:r>
              <a:rPr lang="en-US" sz="2000" dirty="0" err="1">
                <a:latin typeface="Arial "/>
                <a:cs typeface="Times New Roman"/>
              </a:rPr>
              <a:t>DataFrame</a:t>
            </a:r>
            <a:r>
              <a:rPr lang="en-US" sz="2000" dirty="0">
                <a:latin typeface="Arial "/>
                <a:cs typeface="Times New Roman"/>
              </a:rPr>
              <a:t>/CSV)</a:t>
            </a:r>
          </a:p>
          <a:p>
            <a:pPr marL="285750" indent="-285750" algn="just">
              <a:buChar char="•"/>
            </a:pPr>
            <a:r>
              <a:rPr lang="en-US" sz="2000" dirty="0">
                <a:latin typeface="Arial "/>
                <a:cs typeface="Times New Roman"/>
              </a:rPr>
              <a:t>Cleaned and prepared data for analysis</a:t>
            </a:r>
          </a:p>
          <a:p>
            <a:endParaRPr lang="en-IN" dirty="0">
              <a:latin typeface="Arial "/>
            </a:endParaRPr>
          </a:p>
        </p:txBody>
      </p:sp>
    </p:spTree>
    <p:extLst>
      <p:ext uri="{BB962C8B-B14F-4D97-AF65-F5344CB8AC3E}">
        <p14:creationId xmlns:p14="http://schemas.microsoft.com/office/powerpoint/2010/main" val="2850439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81F9D5-3A2F-A9C0-1DBF-A0784FFF56B9}"/>
              </a:ext>
            </a:extLst>
          </p:cNvPr>
          <p:cNvSpPr txBox="1"/>
          <p:nvPr/>
        </p:nvSpPr>
        <p:spPr>
          <a:xfrm>
            <a:off x="0" y="337457"/>
            <a:ext cx="12192000" cy="738664"/>
          </a:xfrm>
          <a:prstGeom prst="rect">
            <a:avLst/>
          </a:prstGeom>
          <a:noFill/>
        </p:spPr>
        <p:txBody>
          <a:bodyPr wrap="square" rtlCol="0">
            <a:spAutoFit/>
          </a:bodyPr>
          <a:lstStyle/>
          <a:p>
            <a:pPr algn="ctr"/>
            <a:r>
              <a:rPr lang="en-IN" sz="2800" b="1" dirty="0">
                <a:solidFill>
                  <a:srgbClr val="FF0000"/>
                </a:solidFill>
                <a:latin typeface="Times New Roman"/>
                <a:cs typeface="Times New Roman"/>
              </a:rPr>
              <a:t>Summary of Data</a:t>
            </a:r>
          </a:p>
          <a:p>
            <a:endParaRPr lang="en-IN" dirty="0"/>
          </a:p>
        </p:txBody>
      </p:sp>
      <p:sp>
        <p:nvSpPr>
          <p:cNvPr id="4" name="TextBox 3">
            <a:extLst>
              <a:ext uri="{FF2B5EF4-FFF2-40B4-BE49-F238E27FC236}">
                <a16:creationId xmlns:a16="http://schemas.microsoft.com/office/drawing/2014/main" id="{900F5E1A-A146-2DF9-553B-B0D06BF060AB}"/>
              </a:ext>
            </a:extLst>
          </p:cNvPr>
          <p:cNvSpPr txBox="1"/>
          <p:nvPr/>
        </p:nvSpPr>
        <p:spPr>
          <a:xfrm>
            <a:off x="870857" y="1175657"/>
            <a:ext cx="10548257" cy="5416868"/>
          </a:xfrm>
          <a:prstGeom prst="rect">
            <a:avLst/>
          </a:prstGeom>
          <a:noFill/>
        </p:spPr>
        <p:txBody>
          <a:bodyPr wrap="square" rtlCol="0">
            <a:spAutoFit/>
          </a:bodyPr>
          <a:lstStyle/>
          <a:p>
            <a:r>
              <a:rPr lang="en-US" sz="2400" b="1" dirty="0">
                <a:latin typeface="Arial "/>
                <a:cs typeface="Times New Roman"/>
              </a:rPr>
              <a:t>Summary of Data</a:t>
            </a:r>
            <a:endParaRPr lang="en-US" sz="2400" dirty="0">
              <a:latin typeface="Arial "/>
              <a:cs typeface="Times New Roman"/>
            </a:endParaRPr>
          </a:p>
          <a:p>
            <a:pPr marL="342900" indent="-342900">
              <a:buChar char="•"/>
            </a:pPr>
            <a:r>
              <a:rPr lang="en-US" sz="2400" dirty="0">
                <a:latin typeface="Arial "/>
                <a:cs typeface="Times New Roman"/>
              </a:rPr>
              <a:t>The dataset contains information about multiple cities collected from Magic Bricks</a:t>
            </a:r>
          </a:p>
          <a:p>
            <a:pPr marL="342900" indent="-342900">
              <a:buChar char="•"/>
            </a:pPr>
            <a:r>
              <a:rPr lang="en-US" sz="2400" dirty="0">
                <a:latin typeface="Arial "/>
                <a:cs typeface="Times New Roman"/>
              </a:rPr>
              <a:t>It includes both numerical and categorical features</a:t>
            </a:r>
          </a:p>
          <a:p>
            <a:pPr marL="342900" indent="-342900">
              <a:buChar char="•"/>
            </a:pPr>
            <a:endParaRPr lang="en-US" sz="2400" dirty="0">
              <a:latin typeface="Arial "/>
              <a:cs typeface="Times New Roman"/>
            </a:endParaRPr>
          </a:p>
          <a:p>
            <a:r>
              <a:rPr lang="en-US" sz="2400" b="1" dirty="0">
                <a:latin typeface="Arial "/>
                <a:cs typeface="Times New Roman"/>
              </a:rPr>
              <a:t>Key Columns in Dataset:</a:t>
            </a:r>
          </a:p>
          <a:p>
            <a:pPr marL="342900" indent="-342900">
              <a:buFont typeface="Arial" panose="020B0604020202020204" pitchFamily="34" charset="0"/>
              <a:buChar char="•"/>
            </a:pPr>
            <a:r>
              <a:rPr lang="en-US" sz="2000" dirty="0">
                <a:latin typeface="Arial "/>
                <a:cs typeface="Times New Roman"/>
              </a:rPr>
              <a:t>Price, BHK, </a:t>
            </a:r>
            <a:r>
              <a:rPr lang="en-US" sz="2000" dirty="0" err="1">
                <a:latin typeface="Arial "/>
                <a:cs typeface="Times New Roman"/>
              </a:rPr>
              <a:t>Sqft</a:t>
            </a:r>
            <a:r>
              <a:rPr lang="en-US" sz="2000" dirty="0">
                <a:latin typeface="Arial "/>
                <a:cs typeface="Times New Roman"/>
              </a:rPr>
              <a:t>, City, Society Name, </a:t>
            </a:r>
            <a:r>
              <a:rPr lang="en-US" sz="2000" dirty="0" err="1">
                <a:latin typeface="Arial "/>
                <a:cs typeface="Times New Roman"/>
              </a:rPr>
              <a:t>Furnished_status</a:t>
            </a:r>
            <a:r>
              <a:rPr lang="en-US" sz="2000" dirty="0">
                <a:latin typeface="Arial "/>
                <a:cs typeface="Times New Roman"/>
              </a:rPr>
              <a:t>.</a:t>
            </a:r>
            <a:endParaRPr lang="en-US" sz="2400" dirty="0">
              <a:latin typeface="Arial "/>
              <a:cs typeface="Times New Roman"/>
            </a:endParaRPr>
          </a:p>
          <a:p>
            <a:endParaRPr lang="en-US" sz="2400" dirty="0">
              <a:latin typeface="Arial "/>
            </a:endParaRPr>
          </a:p>
          <a:p>
            <a:r>
              <a:rPr lang="en-US" sz="2400" b="1" dirty="0">
                <a:latin typeface="Arial "/>
                <a:cs typeface="Times New Roman"/>
              </a:rPr>
              <a:t>Data Characteristics:</a:t>
            </a:r>
          </a:p>
          <a:p>
            <a:endParaRPr lang="en-US" sz="2400" dirty="0">
              <a:latin typeface="Arial "/>
              <a:cs typeface="Times New Roman"/>
            </a:endParaRPr>
          </a:p>
          <a:p>
            <a:pPr marL="285750" indent="-285750">
              <a:buChar char="•"/>
            </a:pPr>
            <a:r>
              <a:rPr lang="en-US" sz="2400" dirty="0">
                <a:latin typeface="Arial "/>
                <a:cs typeface="Times New Roman"/>
              </a:rPr>
              <a:t>Mix of structured data (numeric + categorical)</a:t>
            </a:r>
          </a:p>
          <a:p>
            <a:pPr marL="285750" indent="-285750">
              <a:buChar char="•"/>
            </a:pPr>
            <a:r>
              <a:rPr lang="en-US" sz="2400" dirty="0">
                <a:latin typeface="Arial "/>
                <a:cs typeface="Times New Roman"/>
              </a:rPr>
              <a:t>Some missing/null values handled during preprocessing</a:t>
            </a:r>
          </a:p>
          <a:p>
            <a:pPr marL="285750" indent="-285750">
              <a:buChar char="•"/>
            </a:pPr>
            <a:r>
              <a:rPr lang="en-US" sz="2400" dirty="0">
                <a:latin typeface="Arial "/>
                <a:cs typeface="Times New Roman"/>
              </a:rPr>
              <a:t>Data cleaned and converted into usable format</a:t>
            </a:r>
          </a:p>
          <a:p>
            <a:endParaRPr lang="en-US" sz="2400" dirty="0">
              <a:latin typeface="Arial "/>
              <a:cs typeface="Times New Roman"/>
            </a:endParaRPr>
          </a:p>
          <a:p>
            <a:endParaRPr lang="en-IN" sz="1600" dirty="0">
              <a:latin typeface="Arial "/>
            </a:endParaRPr>
          </a:p>
        </p:txBody>
      </p:sp>
    </p:spTree>
    <p:extLst>
      <p:ext uri="{BB962C8B-B14F-4D97-AF65-F5344CB8AC3E}">
        <p14:creationId xmlns:p14="http://schemas.microsoft.com/office/powerpoint/2010/main" val="3268893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816F36-F844-C5A2-EA17-180D1679A1C7}"/>
              </a:ext>
            </a:extLst>
          </p:cNvPr>
          <p:cNvSpPr txBox="1"/>
          <p:nvPr/>
        </p:nvSpPr>
        <p:spPr>
          <a:xfrm>
            <a:off x="2275114" y="272143"/>
            <a:ext cx="7554686" cy="738664"/>
          </a:xfrm>
          <a:prstGeom prst="rect">
            <a:avLst/>
          </a:prstGeom>
          <a:noFill/>
        </p:spPr>
        <p:txBody>
          <a:bodyPr wrap="square" rtlCol="0">
            <a:spAutoFit/>
          </a:bodyPr>
          <a:lstStyle/>
          <a:p>
            <a:pPr algn="ctr"/>
            <a:r>
              <a:rPr lang="en-IN" sz="2800" b="1" dirty="0">
                <a:solidFill>
                  <a:srgbClr val="FF0000"/>
                </a:solidFill>
                <a:latin typeface="Times New Roman"/>
                <a:cs typeface="Times New Roman"/>
              </a:rPr>
              <a:t> Data Cleaning &amp; Preprocessing</a:t>
            </a:r>
          </a:p>
          <a:p>
            <a:pPr algn="ctr"/>
            <a:endParaRPr lang="en-IN" dirty="0"/>
          </a:p>
        </p:txBody>
      </p:sp>
      <p:sp>
        <p:nvSpPr>
          <p:cNvPr id="3" name="TextBox 2">
            <a:extLst>
              <a:ext uri="{FF2B5EF4-FFF2-40B4-BE49-F238E27FC236}">
                <a16:creationId xmlns:a16="http://schemas.microsoft.com/office/drawing/2014/main" id="{51168B3E-9A92-083C-4EE2-95805E5207C4}"/>
              </a:ext>
            </a:extLst>
          </p:cNvPr>
          <p:cNvSpPr txBox="1"/>
          <p:nvPr/>
        </p:nvSpPr>
        <p:spPr>
          <a:xfrm>
            <a:off x="696686" y="925286"/>
            <a:ext cx="5799294" cy="6063198"/>
          </a:xfrm>
          <a:prstGeom prst="rect">
            <a:avLst/>
          </a:prstGeom>
          <a:noFill/>
        </p:spPr>
        <p:txBody>
          <a:bodyPr wrap="square" rtlCol="0">
            <a:spAutoFit/>
          </a:bodyPr>
          <a:lstStyle/>
          <a:p>
            <a:r>
              <a:rPr lang="en-US" sz="2800" b="1" dirty="0">
                <a:latin typeface="Arial "/>
                <a:cs typeface="Times New Roman"/>
              </a:rPr>
              <a:t>Steps Performed</a:t>
            </a:r>
            <a:r>
              <a:rPr lang="en-US" sz="2000" b="1" dirty="0">
                <a:latin typeface="Arial "/>
                <a:cs typeface="Times New Roman"/>
              </a:rPr>
              <a:t>: </a:t>
            </a:r>
          </a:p>
          <a:p>
            <a:endParaRPr lang="en-US" sz="2000" b="1" dirty="0">
              <a:latin typeface="Arial "/>
              <a:cs typeface="Times New Roman"/>
            </a:endParaRPr>
          </a:p>
          <a:p>
            <a:pPr marL="285750" indent="-285750">
              <a:buChar char="•"/>
            </a:pPr>
            <a:r>
              <a:rPr lang="en-US" sz="1800" dirty="0">
                <a:latin typeface="Arial "/>
                <a:cs typeface="Arial" panose="020B0604020202020204" pitchFamily="34" charset="0"/>
              </a:rPr>
              <a:t>Removed missing/null values </a:t>
            </a:r>
          </a:p>
          <a:p>
            <a:pPr marL="285750" indent="-285750">
              <a:buChar char="•"/>
            </a:pPr>
            <a:r>
              <a:rPr lang="en-US" sz="1800" dirty="0">
                <a:latin typeface="Arial "/>
                <a:cs typeface="Arial" panose="020B0604020202020204" pitchFamily="34" charset="0"/>
              </a:rPr>
              <a:t>Handled inconsistent and duplicate data entries</a:t>
            </a:r>
          </a:p>
          <a:p>
            <a:pPr marL="285750" indent="-285750">
              <a:buFont typeface="Arial" panose="020B0604020202020204" pitchFamily="34" charset="0"/>
              <a:buChar char="•"/>
            </a:pPr>
            <a:r>
              <a:rPr lang="en-US" sz="1800" dirty="0">
                <a:latin typeface="Arial "/>
                <a:cs typeface="Times New Roman"/>
              </a:rPr>
              <a:t>Converted data type from object to numeric </a:t>
            </a:r>
          </a:p>
          <a:p>
            <a:r>
              <a:rPr lang="en-US" sz="1800" dirty="0">
                <a:latin typeface="Arial "/>
                <a:cs typeface="Times New Roman"/>
              </a:rPr>
              <a:t>     (</a:t>
            </a:r>
            <a:r>
              <a:rPr lang="en-US" sz="1800" dirty="0" err="1">
                <a:latin typeface="Arial "/>
                <a:cs typeface="Times New Roman"/>
              </a:rPr>
              <a:t>e.x</a:t>
            </a:r>
            <a:r>
              <a:rPr lang="en-US" sz="1800" dirty="0">
                <a:latin typeface="Arial "/>
                <a:cs typeface="Times New Roman"/>
              </a:rPr>
              <a:t> : price, </a:t>
            </a:r>
            <a:r>
              <a:rPr lang="en-US" sz="1800" dirty="0" err="1">
                <a:latin typeface="Arial "/>
                <a:cs typeface="Times New Roman"/>
              </a:rPr>
              <a:t>bhk</a:t>
            </a:r>
            <a:r>
              <a:rPr lang="en-US" sz="1800" dirty="0">
                <a:latin typeface="Arial "/>
                <a:cs typeface="Times New Roman"/>
              </a:rPr>
              <a:t>, </a:t>
            </a:r>
            <a:r>
              <a:rPr lang="en-US" sz="1800" dirty="0" err="1">
                <a:latin typeface="Arial "/>
                <a:cs typeface="Times New Roman"/>
              </a:rPr>
              <a:t>sqft</a:t>
            </a:r>
            <a:r>
              <a:rPr lang="en-US" sz="1800" dirty="0">
                <a:latin typeface="Arial "/>
                <a:cs typeface="Times New Roman"/>
              </a:rPr>
              <a:t>)</a:t>
            </a:r>
          </a:p>
          <a:p>
            <a:pPr marL="285750" indent="-285750">
              <a:buFont typeface="Arial" panose="020B0604020202020204" pitchFamily="34" charset="0"/>
              <a:buChar char="•"/>
            </a:pPr>
            <a:endParaRPr lang="en-US" sz="1800" dirty="0">
              <a:latin typeface="Arial "/>
              <a:cs typeface="Times New Roman"/>
            </a:endParaRPr>
          </a:p>
          <a:p>
            <a:pPr marL="285750" indent="-285750">
              <a:buFont typeface="Arial" panose="020B0604020202020204" pitchFamily="34" charset="0"/>
              <a:buChar char="•"/>
            </a:pPr>
            <a:r>
              <a:rPr lang="en-US" sz="1800" dirty="0">
                <a:latin typeface="Arial "/>
                <a:cs typeface="Times New Roman"/>
              </a:rPr>
              <a:t>Filtered out outliers.</a:t>
            </a:r>
          </a:p>
          <a:p>
            <a:endParaRPr lang="en-US" sz="1800" dirty="0">
              <a:latin typeface="Arial "/>
              <a:cs typeface="Times New Roman"/>
            </a:endParaRPr>
          </a:p>
          <a:p>
            <a:endParaRPr lang="en-US" sz="1800" dirty="0">
              <a:latin typeface="Arial "/>
              <a:cs typeface="Times New Roman"/>
            </a:endParaRPr>
          </a:p>
          <a:p>
            <a:r>
              <a:rPr lang="en-US" sz="1800" b="1" dirty="0">
                <a:latin typeface="Arial" panose="020B0604020202020204" pitchFamily="34" charset="0"/>
                <a:cs typeface="Arial" panose="020B0604020202020204" pitchFamily="34" charset="0"/>
              </a:rPr>
              <a:t>Why Data Cleaning is Important:</a:t>
            </a:r>
          </a:p>
          <a:p>
            <a:endParaRPr lang="en-US" sz="1800" dirty="0">
              <a:latin typeface="Arial" panose="020B0604020202020204" pitchFamily="34" charset="0"/>
              <a:cs typeface="Arial" panose="020B0604020202020204" pitchFamily="34" charset="0"/>
            </a:endParaRPr>
          </a:p>
          <a:p>
            <a:pPr marL="285750" indent="-285750">
              <a:buChar char="•"/>
            </a:pPr>
            <a:r>
              <a:rPr lang="en-US" sz="1800" dirty="0">
                <a:latin typeface="Arial" panose="020B0604020202020204" pitchFamily="34" charset="0"/>
                <a:cs typeface="Arial" panose="020B0604020202020204" pitchFamily="34" charset="0"/>
              </a:rPr>
              <a:t>Ensures accuracy of analysis</a:t>
            </a:r>
          </a:p>
          <a:p>
            <a:pPr marL="285750" indent="-285750">
              <a:buChar char="•"/>
            </a:pPr>
            <a:r>
              <a:rPr lang="en-US" sz="1800" dirty="0">
                <a:latin typeface="Arial" panose="020B0604020202020204" pitchFamily="34" charset="0"/>
                <a:cs typeface="Arial" panose="020B0604020202020204" pitchFamily="34" charset="0"/>
              </a:rPr>
              <a:t>Improves data quality</a:t>
            </a:r>
          </a:p>
          <a:p>
            <a:endParaRPr lang="en-US" sz="1800" dirty="0">
              <a:latin typeface="Arial "/>
              <a:cs typeface="Times New Roman"/>
            </a:endParaRPr>
          </a:p>
          <a:p>
            <a:pPr marL="285750" indent="-285750">
              <a:buFont typeface="Arial" panose="020B0604020202020204" pitchFamily="34" charset="0"/>
              <a:buChar char="•"/>
            </a:pPr>
            <a:endParaRPr lang="en-US" sz="1800" dirty="0">
              <a:latin typeface="Arial "/>
              <a:cs typeface="Times New Roman"/>
            </a:endParaRPr>
          </a:p>
          <a:p>
            <a:endParaRPr lang="en-US" sz="1800" dirty="0">
              <a:latin typeface="Arial "/>
              <a:cs typeface="Times New Roman"/>
            </a:endParaRPr>
          </a:p>
          <a:p>
            <a:endParaRPr lang="en-US" sz="1800" dirty="0">
              <a:latin typeface="Arial "/>
              <a:cs typeface="Times New Roman"/>
            </a:endParaRPr>
          </a:p>
          <a:p>
            <a:endParaRPr lang="en-US" sz="1800" dirty="0">
              <a:latin typeface="Arial "/>
              <a:cs typeface="Times New Roman"/>
            </a:endParaRPr>
          </a:p>
          <a:p>
            <a:endParaRPr lang="en-US" sz="2000" dirty="0">
              <a:latin typeface="Arial "/>
              <a:cs typeface="Times New Roman"/>
            </a:endParaRPr>
          </a:p>
          <a:p>
            <a:endParaRPr lang="en-IN" dirty="0"/>
          </a:p>
        </p:txBody>
      </p:sp>
      <p:pic>
        <p:nvPicPr>
          <p:cNvPr id="5" name="Picture 4">
            <a:extLst>
              <a:ext uri="{FF2B5EF4-FFF2-40B4-BE49-F238E27FC236}">
                <a16:creationId xmlns:a16="http://schemas.microsoft.com/office/drawing/2014/main" id="{5DDFD104-B054-ED98-6899-65E730E59843}"/>
              </a:ext>
            </a:extLst>
          </p:cNvPr>
          <p:cNvPicPr>
            <a:picLocks noChangeAspect="1"/>
          </p:cNvPicPr>
          <p:nvPr/>
        </p:nvPicPr>
        <p:blipFill>
          <a:blip r:embed="rId2"/>
          <a:srcRect/>
          <a:stretch/>
        </p:blipFill>
        <p:spPr>
          <a:xfrm>
            <a:off x="7211441" y="1115437"/>
            <a:ext cx="4820269" cy="3374571"/>
          </a:xfrm>
          <a:prstGeom prst="rect">
            <a:avLst/>
          </a:prstGeom>
        </p:spPr>
      </p:pic>
    </p:spTree>
    <p:extLst>
      <p:ext uri="{BB962C8B-B14F-4D97-AF65-F5344CB8AC3E}">
        <p14:creationId xmlns:p14="http://schemas.microsoft.com/office/powerpoint/2010/main" val="2630284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5D545A-61E4-7A9C-85F9-FE462E461502}"/>
              </a:ext>
            </a:extLst>
          </p:cNvPr>
          <p:cNvSpPr txBox="1"/>
          <p:nvPr/>
        </p:nvSpPr>
        <p:spPr>
          <a:xfrm>
            <a:off x="1143000" y="293914"/>
            <a:ext cx="8001000" cy="523220"/>
          </a:xfrm>
          <a:prstGeom prst="rect">
            <a:avLst/>
          </a:prstGeom>
          <a:noFill/>
        </p:spPr>
        <p:txBody>
          <a:bodyPr wrap="square" rtlCol="0">
            <a:spAutoFit/>
          </a:bodyPr>
          <a:lstStyle/>
          <a:p>
            <a:pPr algn="ctr"/>
            <a:r>
              <a:rPr lang="en-IN" sz="2800" b="1" dirty="0">
                <a:solidFill>
                  <a:srgbClr val="FF0000"/>
                </a:solidFill>
                <a:latin typeface="Times New Roman" panose="02020603050405020304" pitchFamily="18" charset="0"/>
                <a:cs typeface="Times New Roman" panose="02020603050405020304" pitchFamily="18" charset="0"/>
              </a:rPr>
              <a:t>Data Cleaning Steps</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60A3671-8837-3191-D1C2-7A510C3B906E}"/>
              </a:ext>
            </a:extLst>
          </p:cNvPr>
          <p:cNvPicPr>
            <a:picLocks noChangeAspect="1"/>
          </p:cNvPicPr>
          <p:nvPr/>
        </p:nvPicPr>
        <p:blipFill>
          <a:blip r:embed="rId2"/>
          <a:stretch>
            <a:fillRect/>
          </a:stretch>
        </p:blipFill>
        <p:spPr>
          <a:xfrm>
            <a:off x="7840603" y="0"/>
            <a:ext cx="4351397" cy="4517571"/>
          </a:xfrm>
          <a:prstGeom prst="rect">
            <a:avLst/>
          </a:prstGeom>
        </p:spPr>
      </p:pic>
      <p:pic>
        <p:nvPicPr>
          <p:cNvPr id="7" name="Picture 6">
            <a:extLst>
              <a:ext uri="{FF2B5EF4-FFF2-40B4-BE49-F238E27FC236}">
                <a16:creationId xmlns:a16="http://schemas.microsoft.com/office/drawing/2014/main" id="{E7831503-F5C2-DCBC-9545-313AC270F068}"/>
              </a:ext>
            </a:extLst>
          </p:cNvPr>
          <p:cNvPicPr>
            <a:picLocks noChangeAspect="1"/>
          </p:cNvPicPr>
          <p:nvPr/>
        </p:nvPicPr>
        <p:blipFill>
          <a:blip r:embed="rId3"/>
          <a:stretch>
            <a:fillRect/>
          </a:stretch>
        </p:blipFill>
        <p:spPr>
          <a:xfrm>
            <a:off x="8156952" y="4593771"/>
            <a:ext cx="4035048" cy="2046515"/>
          </a:xfrm>
          <a:prstGeom prst="rect">
            <a:avLst/>
          </a:prstGeom>
        </p:spPr>
      </p:pic>
      <p:sp>
        <p:nvSpPr>
          <p:cNvPr id="8" name="TextBox 7">
            <a:extLst>
              <a:ext uri="{FF2B5EF4-FFF2-40B4-BE49-F238E27FC236}">
                <a16:creationId xmlns:a16="http://schemas.microsoft.com/office/drawing/2014/main" id="{9DD3D149-A949-3C88-6109-A755609B2E83}"/>
              </a:ext>
            </a:extLst>
          </p:cNvPr>
          <p:cNvSpPr txBox="1"/>
          <p:nvPr/>
        </p:nvSpPr>
        <p:spPr>
          <a:xfrm>
            <a:off x="239486" y="957943"/>
            <a:ext cx="7424057" cy="5909310"/>
          </a:xfrm>
          <a:prstGeom prst="rect">
            <a:avLst/>
          </a:prstGeom>
          <a:noFill/>
        </p:spPr>
        <p:txBody>
          <a:bodyPr wrap="square" rtlCol="0">
            <a:spAutoFit/>
          </a:bodyPr>
          <a:lstStyle/>
          <a:p>
            <a:pPr marL="285750" indent="-285750">
              <a:buFont typeface="Arial" panose="020B0604020202020204" pitchFamily="34" charset="0"/>
              <a:buChar char="•"/>
            </a:pPr>
            <a:r>
              <a:rPr lang="en-US" sz="1800" dirty="0"/>
              <a:t>For the Price column I replace the special symbol and special character and then added the required zero so that I can convert it into float data type.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Then </a:t>
            </a:r>
            <a:r>
              <a:rPr lang="en-US" sz="1800" dirty="0" err="1"/>
              <a:t>i</a:t>
            </a:r>
            <a:r>
              <a:rPr lang="en-US" sz="1800" dirty="0"/>
              <a:t> used </a:t>
            </a:r>
            <a:r>
              <a:rPr lang="en-US" sz="1800" dirty="0" err="1"/>
              <a:t>groupby</a:t>
            </a:r>
            <a:r>
              <a:rPr lang="en-US" sz="1800" dirty="0"/>
              <a:t> on BHK and City and then filled the null values of </a:t>
            </a:r>
            <a:r>
              <a:rPr lang="en-US" sz="1800" dirty="0" err="1"/>
              <a:t>bhk</a:t>
            </a:r>
            <a:r>
              <a:rPr lang="en-US" sz="1800" dirty="0"/>
              <a:t> with median.</a:t>
            </a:r>
          </a:p>
          <a:p>
            <a:endParaRPr lang="en-US" sz="1800" dirty="0"/>
          </a:p>
          <a:p>
            <a:pPr marL="285750" indent="-285750">
              <a:buFont typeface="Arial" panose="020B0604020202020204" pitchFamily="34" charset="0"/>
              <a:buChar char="•"/>
            </a:pPr>
            <a:r>
              <a:rPr lang="en-US" sz="1800" dirty="0"/>
              <a:t>For the furnished status I use forward fill.</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For handling the city columns null I checked the data and per </a:t>
            </a:r>
            <a:r>
              <a:rPr lang="en-US" sz="1800" dirty="0" err="1"/>
              <a:t>per</a:t>
            </a:r>
            <a:r>
              <a:rPr lang="en-US" sz="1800" dirty="0"/>
              <a:t> my understanding the null values are between </a:t>
            </a:r>
            <a:r>
              <a:rPr lang="en-US" sz="1800" dirty="0" err="1"/>
              <a:t>pune</a:t>
            </a:r>
            <a:r>
              <a:rPr lang="en-US" sz="1800" dirty="0"/>
              <a:t> and Mumbai so I used range and then fill 50 % with </a:t>
            </a:r>
            <a:r>
              <a:rPr lang="en-US" sz="1800" dirty="0" err="1"/>
              <a:t>pune</a:t>
            </a:r>
            <a:r>
              <a:rPr lang="en-US" sz="1800" dirty="0"/>
              <a:t> and then 50 percent with Mumbai.</a:t>
            </a:r>
          </a:p>
          <a:p>
            <a:endParaRPr lang="en-US" sz="1800" dirty="0"/>
          </a:p>
          <a:p>
            <a:pPr marL="285750" indent="-285750">
              <a:buFont typeface="Arial" panose="020B0604020202020204" pitchFamily="34" charset="0"/>
              <a:buChar char="•"/>
            </a:pPr>
            <a:r>
              <a:rPr lang="en-US" sz="1800" dirty="0"/>
              <a:t>For the society name column null values I removed the row itself.</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Then Converted the data types of the required columns.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Then removed some outliers using IQR</a:t>
            </a:r>
          </a:p>
          <a:p>
            <a:pPr marL="285750" indent="-285750">
              <a:buFont typeface="Arial" panose="020B0604020202020204" pitchFamily="34" charset="0"/>
              <a:buChar char="•"/>
            </a:pPr>
            <a:endParaRPr lang="en-US" sz="1800" dirty="0"/>
          </a:p>
          <a:p>
            <a:endParaRPr lang="en-IN" sz="1800" dirty="0"/>
          </a:p>
        </p:txBody>
      </p:sp>
    </p:spTree>
    <p:extLst>
      <p:ext uri="{BB962C8B-B14F-4D97-AF65-F5344CB8AC3E}">
        <p14:creationId xmlns:p14="http://schemas.microsoft.com/office/powerpoint/2010/main" val="3392970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6CB128-2ABA-141E-7BED-728D2AC507BF}"/>
              </a:ext>
            </a:extLst>
          </p:cNvPr>
          <p:cNvSpPr txBox="1"/>
          <p:nvPr/>
        </p:nvSpPr>
        <p:spPr>
          <a:xfrm>
            <a:off x="2144486" y="402771"/>
            <a:ext cx="8022771" cy="738664"/>
          </a:xfrm>
          <a:prstGeom prst="rect">
            <a:avLst/>
          </a:prstGeom>
          <a:noFill/>
        </p:spPr>
        <p:txBody>
          <a:bodyPr wrap="square" rtlCol="0">
            <a:spAutoFit/>
          </a:bodyPr>
          <a:lstStyle/>
          <a:p>
            <a:pPr algn="ctr"/>
            <a:r>
              <a:rPr lang="en-IN" sz="2800" b="1" dirty="0">
                <a:solidFill>
                  <a:srgbClr val="FF0000"/>
                </a:solidFill>
                <a:latin typeface="Times New Roman"/>
                <a:cs typeface="Times New Roman"/>
              </a:rPr>
              <a:t>Raw Data</a:t>
            </a:r>
          </a:p>
          <a:p>
            <a:pPr algn="ctr"/>
            <a:endParaRPr lang="en-IN" dirty="0"/>
          </a:p>
        </p:txBody>
      </p:sp>
      <p:pic>
        <p:nvPicPr>
          <p:cNvPr id="5" name="Picture 4">
            <a:extLst>
              <a:ext uri="{FF2B5EF4-FFF2-40B4-BE49-F238E27FC236}">
                <a16:creationId xmlns:a16="http://schemas.microsoft.com/office/drawing/2014/main" id="{289576EF-3CC8-856D-0664-0D278EFCEB59}"/>
              </a:ext>
            </a:extLst>
          </p:cNvPr>
          <p:cNvPicPr>
            <a:picLocks noChangeAspect="1"/>
          </p:cNvPicPr>
          <p:nvPr/>
        </p:nvPicPr>
        <p:blipFill>
          <a:blip r:embed="rId2"/>
          <a:stretch>
            <a:fillRect/>
          </a:stretch>
        </p:blipFill>
        <p:spPr>
          <a:xfrm>
            <a:off x="745850" y="990601"/>
            <a:ext cx="10700300" cy="5219792"/>
          </a:xfrm>
          <a:prstGeom prst="rect">
            <a:avLst/>
          </a:prstGeom>
        </p:spPr>
      </p:pic>
    </p:spTree>
    <p:extLst>
      <p:ext uri="{BB962C8B-B14F-4D97-AF65-F5344CB8AC3E}">
        <p14:creationId xmlns:p14="http://schemas.microsoft.com/office/powerpoint/2010/main" val="4272118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1B7A90-BA1F-EA49-80FB-7881BAB6B8A8}"/>
              </a:ext>
            </a:extLst>
          </p:cNvPr>
          <p:cNvSpPr txBox="1"/>
          <p:nvPr/>
        </p:nvSpPr>
        <p:spPr>
          <a:xfrm>
            <a:off x="3048000" y="304800"/>
            <a:ext cx="6607629"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Clean data</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F928EC1-0489-50B1-A0CE-837C0ED86C40}"/>
              </a:ext>
            </a:extLst>
          </p:cNvPr>
          <p:cNvPicPr>
            <a:picLocks noChangeAspect="1"/>
          </p:cNvPicPr>
          <p:nvPr/>
        </p:nvPicPr>
        <p:blipFill>
          <a:blip r:embed="rId2"/>
          <a:stretch>
            <a:fillRect/>
          </a:stretch>
        </p:blipFill>
        <p:spPr>
          <a:xfrm>
            <a:off x="1121229" y="828020"/>
            <a:ext cx="10319657" cy="5278866"/>
          </a:xfrm>
          <a:prstGeom prst="rect">
            <a:avLst/>
          </a:prstGeom>
        </p:spPr>
      </p:pic>
    </p:spTree>
    <p:extLst>
      <p:ext uri="{BB962C8B-B14F-4D97-AF65-F5344CB8AC3E}">
        <p14:creationId xmlns:p14="http://schemas.microsoft.com/office/powerpoint/2010/main" val="1237406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253AFE-D145-762D-7D4C-D8CCCE44D327}"/>
              </a:ext>
            </a:extLst>
          </p:cNvPr>
          <p:cNvSpPr txBox="1"/>
          <p:nvPr/>
        </p:nvSpPr>
        <p:spPr>
          <a:xfrm>
            <a:off x="685800" y="402771"/>
            <a:ext cx="10787743"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Regex</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1E86BDD-E06F-58A4-BBEA-A5B0047A0C80}"/>
              </a:ext>
            </a:extLst>
          </p:cNvPr>
          <p:cNvSpPr txBox="1"/>
          <p:nvPr/>
        </p:nvSpPr>
        <p:spPr>
          <a:xfrm>
            <a:off x="936171" y="1014106"/>
            <a:ext cx="10787743" cy="3385542"/>
          </a:xfrm>
          <a:prstGeom prst="rect">
            <a:avLst/>
          </a:prstGeom>
          <a:noFill/>
        </p:spPr>
        <p:txBody>
          <a:bodyPr wrap="square" rtlCol="0">
            <a:spAutoFit/>
          </a:bodyPr>
          <a:lstStyle/>
          <a:p>
            <a:r>
              <a:rPr lang="en-US" sz="2000" dirty="0">
                <a:latin typeface="Times New Roman"/>
                <a:cs typeface="Times New Roman"/>
              </a:rPr>
              <a:t>A regular expression (regex) is a pattern used to search, match, or manipulate</a:t>
            </a:r>
            <a:endParaRPr lang="en-US" sz="2000" dirty="0"/>
          </a:p>
          <a:p>
            <a:r>
              <a:rPr lang="en-US" sz="2000" dirty="0">
                <a:latin typeface="Times New Roman"/>
                <a:cs typeface="Times New Roman"/>
              </a:rPr>
              <a:t>Text based on specific rules.</a:t>
            </a:r>
          </a:p>
          <a:p>
            <a:endParaRPr lang="en-US" sz="2000" dirty="0">
              <a:latin typeface="Times New Roman"/>
              <a:cs typeface="Times New Roman"/>
            </a:endParaRPr>
          </a:p>
          <a:p>
            <a:r>
              <a:rPr lang="en-US" sz="2000" b="1" dirty="0">
                <a:latin typeface="Times New Roman"/>
                <a:cs typeface="Times New Roman"/>
              </a:rPr>
              <a:t>Applying Regex for Data Cleaning</a:t>
            </a:r>
          </a:p>
          <a:p>
            <a:endParaRPr lang="en-US" sz="2000" b="1" dirty="0">
              <a:latin typeface="Times New Roman"/>
              <a:cs typeface="Times New Roman"/>
            </a:endParaRPr>
          </a:p>
          <a:p>
            <a:r>
              <a:rPr lang="en-US" sz="2000" b="1" dirty="0">
                <a:latin typeface="Times New Roman"/>
                <a:cs typeface="Times New Roman"/>
              </a:rPr>
              <a:t>Ex :- </a:t>
            </a:r>
            <a:r>
              <a:rPr lang="en-US" sz="2000" dirty="0">
                <a:latin typeface="Times New Roman"/>
                <a:cs typeface="Times New Roman"/>
              </a:rPr>
              <a:t>for column name :- </a:t>
            </a:r>
            <a:r>
              <a:rPr lang="en-US" sz="2000" dirty="0"/>
              <a:t>(r</a:t>
            </a:r>
            <a:r>
              <a:rPr lang="en-IN" sz="1800" dirty="0"/>
              <a:t>"Area+\d+“)</a:t>
            </a:r>
            <a:endParaRPr lang="en-US" sz="2000" dirty="0"/>
          </a:p>
          <a:p>
            <a:r>
              <a:rPr lang="en-US" sz="2000" b="1" dirty="0"/>
              <a:t>Before:</a:t>
            </a:r>
          </a:p>
          <a:p>
            <a:r>
              <a:rPr lang="en-US" sz="1800" dirty="0"/>
              <a:t>Carpet Area1830 </a:t>
            </a:r>
            <a:r>
              <a:rPr lang="en-US" sz="1800" dirty="0" err="1"/>
              <a:t>sqftUnder</a:t>
            </a:r>
            <a:r>
              <a:rPr lang="en-US" sz="1800" dirty="0"/>
              <a:t> </a:t>
            </a:r>
            <a:r>
              <a:rPr lang="en-US" sz="1800" dirty="0" err="1"/>
              <a:t>ConstructionPoss</a:t>
            </a:r>
            <a:r>
              <a:rPr lang="en-US" sz="1800" dirty="0"/>
              <a:t>. by..</a:t>
            </a:r>
            <a:br>
              <a:rPr lang="en-US" sz="2000" b="1" dirty="0"/>
            </a:br>
            <a:r>
              <a:rPr lang="en-US" sz="2000" b="1" dirty="0"/>
              <a:t>After</a:t>
            </a:r>
            <a:r>
              <a:rPr lang="en-US" sz="2000" dirty="0"/>
              <a:t>:</a:t>
            </a:r>
          </a:p>
          <a:p>
            <a:r>
              <a:rPr lang="en-US" sz="1800" dirty="0"/>
              <a:t>Area1830</a:t>
            </a:r>
            <a:br>
              <a:rPr lang="en-US" sz="1800" b="1" dirty="0"/>
            </a:br>
            <a:r>
              <a:rPr lang="en-US" sz="1800" b="1" dirty="0"/>
              <a:t> </a:t>
            </a:r>
            <a:endParaRPr lang="en-IN" sz="3200" dirty="0"/>
          </a:p>
        </p:txBody>
      </p:sp>
      <p:pic>
        <p:nvPicPr>
          <p:cNvPr id="5" name="Picture 4">
            <a:extLst>
              <a:ext uri="{FF2B5EF4-FFF2-40B4-BE49-F238E27FC236}">
                <a16:creationId xmlns:a16="http://schemas.microsoft.com/office/drawing/2014/main" id="{D72DF702-4F43-36CC-32E5-2A0832F07C3D}"/>
              </a:ext>
            </a:extLst>
          </p:cNvPr>
          <p:cNvPicPr>
            <a:picLocks noChangeAspect="1"/>
          </p:cNvPicPr>
          <p:nvPr/>
        </p:nvPicPr>
        <p:blipFill>
          <a:blip r:embed="rId2"/>
          <a:stretch>
            <a:fillRect/>
          </a:stretch>
        </p:blipFill>
        <p:spPr>
          <a:xfrm>
            <a:off x="6199414" y="1494193"/>
            <a:ext cx="5682342" cy="4612693"/>
          </a:xfrm>
          <a:prstGeom prst="rect">
            <a:avLst/>
          </a:prstGeom>
        </p:spPr>
      </p:pic>
    </p:spTree>
    <p:extLst>
      <p:ext uri="{BB962C8B-B14F-4D97-AF65-F5344CB8AC3E}">
        <p14:creationId xmlns:p14="http://schemas.microsoft.com/office/powerpoint/2010/main" val="2854891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C1A235-0D81-BCE1-852B-13711E0821A9}"/>
              </a:ext>
            </a:extLst>
          </p:cNvPr>
          <p:cNvSpPr txBox="1"/>
          <p:nvPr/>
        </p:nvSpPr>
        <p:spPr>
          <a:xfrm>
            <a:off x="0" y="272143"/>
            <a:ext cx="12191999" cy="523220"/>
          </a:xfrm>
          <a:prstGeom prst="rect">
            <a:avLst/>
          </a:prstGeom>
          <a:noFill/>
        </p:spPr>
        <p:txBody>
          <a:bodyPr wrap="square" rtlCol="0">
            <a:spAutoFit/>
          </a:bodyPr>
          <a:lstStyle/>
          <a:p>
            <a:pPr algn="ctr">
              <a:buClr>
                <a:srgbClr val="FF0000"/>
              </a:buClr>
              <a:buSzPts val="4400"/>
            </a:pPr>
            <a:r>
              <a:rPr lang="en-IN" sz="2800" b="1" dirty="0">
                <a:solidFill>
                  <a:srgbClr val="FF0000"/>
                </a:solidFill>
                <a:latin typeface="Times New Roman" panose="02020603050405020304" pitchFamily="18" charset="0"/>
                <a:cs typeface="Times New Roman" panose="02020603050405020304" pitchFamily="18" charset="0"/>
              </a:rPr>
              <a:t>Univariate Analysis</a:t>
            </a:r>
          </a:p>
        </p:txBody>
      </p:sp>
      <p:pic>
        <p:nvPicPr>
          <p:cNvPr id="5" name="Picture 4">
            <a:extLst>
              <a:ext uri="{FF2B5EF4-FFF2-40B4-BE49-F238E27FC236}">
                <a16:creationId xmlns:a16="http://schemas.microsoft.com/office/drawing/2014/main" id="{1B0D76ED-A4F0-43F3-5A77-9DFA2FEE47D8}"/>
              </a:ext>
            </a:extLst>
          </p:cNvPr>
          <p:cNvPicPr>
            <a:picLocks noChangeAspect="1"/>
          </p:cNvPicPr>
          <p:nvPr/>
        </p:nvPicPr>
        <p:blipFill>
          <a:blip r:embed="rId2"/>
          <a:stretch>
            <a:fillRect/>
          </a:stretch>
        </p:blipFill>
        <p:spPr>
          <a:xfrm>
            <a:off x="239486" y="772886"/>
            <a:ext cx="5301343" cy="5018314"/>
          </a:xfrm>
          <a:prstGeom prst="rect">
            <a:avLst/>
          </a:prstGeom>
        </p:spPr>
      </p:pic>
      <p:sp>
        <p:nvSpPr>
          <p:cNvPr id="6" name="TextBox 5">
            <a:extLst>
              <a:ext uri="{FF2B5EF4-FFF2-40B4-BE49-F238E27FC236}">
                <a16:creationId xmlns:a16="http://schemas.microsoft.com/office/drawing/2014/main" id="{840BFA46-19E3-7F63-F721-EEDDE4114391}"/>
              </a:ext>
            </a:extLst>
          </p:cNvPr>
          <p:cNvSpPr txBox="1"/>
          <p:nvPr/>
        </p:nvSpPr>
        <p:spPr>
          <a:xfrm>
            <a:off x="5540829" y="914400"/>
            <a:ext cx="5954486" cy="5478423"/>
          </a:xfrm>
          <a:prstGeom prst="rect">
            <a:avLst/>
          </a:prstGeom>
          <a:noFill/>
        </p:spPr>
        <p:txBody>
          <a:bodyPr wrap="square" rtlCol="0">
            <a:spAutoFit/>
          </a:bodyPr>
          <a:lstStyle/>
          <a:p>
            <a:r>
              <a:rPr lang="en-US" b="1" dirty="0"/>
              <a:t>BHK</a:t>
            </a:r>
            <a:r>
              <a:rPr lang="en-US" dirty="0"/>
              <a:t> :  The BHK is Highly Skewed in the right </a:t>
            </a:r>
          </a:p>
          <a:p>
            <a:endParaRPr lang="en-US" dirty="0"/>
          </a:p>
          <a:p>
            <a:r>
              <a:rPr lang="en-US" b="1" dirty="0"/>
              <a:t>1. 3 BHK is the most common</a:t>
            </a:r>
            <a:endParaRPr lang="en-US" dirty="0"/>
          </a:p>
          <a:p>
            <a:r>
              <a:rPr lang="en-US" dirty="0"/>
              <a:t>It has the highest count (</a:t>
            </a:r>
            <a:r>
              <a:rPr lang="en-US" b="1" dirty="0"/>
              <a:t>345 properties</a:t>
            </a:r>
            <a:r>
              <a:rPr lang="en-US" dirty="0"/>
              <a:t>). </a:t>
            </a:r>
          </a:p>
          <a:p>
            <a:r>
              <a:rPr lang="en-US" dirty="0"/>
              <a:t>This means most houses in the dataset are </a:t>
            </a:r>
            <a:r>
              <a:rPr lang="en-US" b="1" dirty="0"/>
              <a:t>mid-sized homes</a:t>
            </a:r>
            <a:r>
              <a:rPr lang="en-US" dirty="0"/>
              <a:t>, preferred by families.</a:t>
            </a:r>
          </a:p>
          <a:p>
            <a:endParaRPr lang="en-IN" dirty="0"/>
          </a:p>
          <a:p>
            <a:r>
              <a:rPr lang="en-US" b="1" dirty="0"/>
              <a:t>2. 4 BHK is the second most popular</a:t>
            </a:r>
            <a:endParaRPr lang="en-US" dirty="0"/>
          </a:p>
          <a:p>
            <a:r>
              <a:rPr lang="en-US" dirty="0"/>
              <a:t>Around </a:t>
            </a:r>
            <a:r>
              <a:rPr lang="en-US" b="1" dirty="0"/>
              <a:t>250 properties</a:t>
            </a:r>
            <a:r>
              <a:rPr lang="en-US" dirty="0"/>
              <a:t>. </a:t>
            </a:r>
          </a:p>
          <a:p>
            <a:r>
              <a:rPr lang="en-US" dirty="0"/>
              <a:t>Indicates demand for </a:t>
            </a:r>
            <a:r>
              <a:rPr lang="en-US" b="1" dirty="0"/>
              <a:t>larger homes</a:t>
            </a:r>
            <a:r>
              <a:rPr lang="en-US" dirty="0"/>
              <a:t>, likely for bigger or premium families.</a:t>
            </a:r>
          </a:p>
          <a:p>
            <a:endParaRPr lang="en-IN" dirty="0"/>
          </a:p>
          <a:p>
            <a:r>
              <a:rPr lang="en-US" b="1" dirty="0"/>
              <a:t>3. 2 BHK also has significant presence</a:t>
            </a:r>
            <a:endParaRPr lang="en-US" dirty="0"/>
          </a:p>
          <a:p>
            <a:r>
              <a:rPr lang="en-US" dirty="0"/>
              <a:t>Around </a:t>
            </a:r>
            <a:r>
              <a:rPr lang="en-US" b="1" dirty="0"/>
              <a:t>104 properties</a:t>
            </a:r>
            <a:r>
              <a:rPr lang="en-US" dirty="0"/>
              <a:t>. </a:t>
            </a:r>
          </a:p>
          <a:p>
            <a:r>
              <a:rPr lang="en-US" dirty="0"/>
              <a:t>Common for </a:t>
            </a:r>
            <a:r>
              <a:rPr lang="en-US" b="1" dirty="0"/>
              <a:t>small families or budget buyers</a:t>
            </a:r>
            <a:r>
              <a:rPr lang="en-US" dirty="0"/>
              <a:t>.</a:t>
            </a:r>
          </a:p>
          <a:p>
            <a:endParaRPr lang="en-IN" dirty="0"/>
          </a:p>
          <a:p>
            <a:r>
              <a:rPr lang="en-US" b="1" dirty="0"/>
              <a:t>4. 1 BHK is very limited</a:t>
            </a:r>
            <a:endParaRPr lang="en-US" dirty="0"/>
          </a:p>
          <a:p>
            <a:r>
              <a:rPr lang="en-US" dirty="0"/>
              <a:t>Only </a:t>
            </a:r>
            <a:r>
              <a:rPr lang="en-US" b="1" dirty="0"/>
              <a:t>17 properties</a:t>
            </a:r>
            <a:r>
              <a:rPr lang="en-US" dirty="0"/>
              <a:t>. </a:t>
            </a:r>
          </a:p>
          <a:p>
            <a:r>
              <a:rPr lang="en-US" dirty="0"/>
              <a:t>Shows </a:t>
            </a:r>
            <a:r>
              <a:rPr lang="en-US" b="1" dirty="0"/>
              <a:t>low availability or demand</a:t>
            </a:r>
            <a:r>
              <a:rPr lang="en-US" dirty="0"/>
              <a:t> for very small houses.</a:t>
            </a:r>
          </a:p>
          <a:p>
            <a:endParaRPr lang="en-IN" dirty="0"/>
          </a:p>
          <a:p>
            <a:r>
              <a:rPr lang="en-US" b="1" dirty="0"/>
              <a:t>5. Luxury or very large homes (5+ BHK) are rare</a:t>
            </a:r>
            <a:r>
              <a:rPr lang="en-US" dirty="0"/>
              <a:t> </a:t>
            </a:r>
          </a:p>
          <a:p>
            <a:pPr lvl="1"/>
            <a:r>
              <a:rPr lang="en-US" dirty="0"/>
              <a:t>5 BHK: 33 </a:t>
            </a:r>
          </a:p>
          <a:p>
            <a:pPr lvl="1"/>
            <a:r>
              <a:rPr lang="en-US" dirty="0"/>
              <a:t>6 BHK: 3 </a:t>
            </a:r>
          </a:p>
          <a:p>
            <a:pPr lvl="1"/>
            <a:r>
              <a:rPr lang="en-US" dirty="0"/>
              <a:t>7 &amp; 10 BHK: only 1 each </a:t>
            </a:r>
          </a:p>
          <a:p>
            <a:pPr lvl="1"/>
            <a:r>
              <a:rPr lang="en-US" dirty="0"/>
              <a:t>These are </a:t>
            </a:r>
            <a:r>
              <a:rPr lang="en-US" b="1" dirty="0"/>
              <a:t>high-end or luxury properties</a:t>
            </a:r>
            <a:r>
              <a:rPr lang="en-US" dirty="0"/>
              <a:t>, so naturally fewer in number. </a:t>
            </a:r>
          </a:p>
          <a:p>
            <a:endParaRPr lang="en-IN" dirty="0"/>
          </a:p>
        </p:txBody>
      </p:sp>
    </p:spTree>
    <p:extLst>
      <p:ext uri="{BB962C8B-B14F-4D97-AF65-F5344CB8AC3E}">
        <p14:creationId xmlns:p14="http://schemas.microsoft.com/office/powerpoint/2010/main" val="4036641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7E3A81-0978-BD97-3E44-804167C431EC}"/>
              </a:ext>
            </a:extLst>
          </p:cNvPr>
          <p:cNvSpPr txBox="1"/>
          <p:nvPr/>
        </p:nvSpPr>
        <p:spPr>
          <a:xfrm>
            <a:off x="76201" y="293914"/>
            <a:ext cx="120396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BHK Distribution</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F0B7627-2F8C-A89E-FC45-4B99A20A8D0F}"/>
              </a:ext>
            </a:extLst>
          </p:cNvPr>
          <p:cNvPicPr>
            <a:picLocks noChangeAspect="1"/>
          </p:cNvPicPr>
          <p:nvPr/>
        </p:nvPicPr>
        <p:blipFill>
          <a:blip r:embed="rId2"/>
          <a:stretch>
            <a:fillRect/>
          </a:stretch>
        </p:blipFill>
        <p:spPr>
          <a:xfrm>
            <a:off x="76200" y="817134"/>
            <a:ext cx="5018314" cy="5641610"/>
          </a:xfrm>
          <a:prstGeom prst="rect">
            <a:avLst/>
          </a:prstGeom>
        </p:spPr>
      </p:pic>
      <p:sp>
        <p:nvSpPr>
          <p:cNvPr id="5" name="TextBox 4">
            <a:extLst>
              <a:ext uri="{FF2B5EF4-FFF2-40B4-BE49-F238E27FC236}">
                <a16:creationId xmlns:a16="http://schemas.microsoft.com/office/drawing/2014/main" id="{E7F5975F-3995-3B34-909B-891DA652C6B2}"/>
              </a:ext>
            </a:extLst>
          </p:cNvPr>
          <p:cNvSpPr txBox="1"/>
          <p:nvPr/>
        </p:nvSpPr>
        <p:spPr>
          <a:xfrm>
            <a:off x="5747657" y="1687286"/>
            <a:ext cx="6281057" cy="2862322"/>
          </a:xfrm>
          <a:prstGeom prst="rect">
            <a:avLst/>
          </a:prstGeom>
          <a:noFill/>
        </p:spPr>
        <p:txBody>
          <a:bodyPr wrap="square" rtlCol="0">
            <a:spAutoFit/>
          </a:bodyPr>
          <a:lstStyle/>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3 BHK dominates the market</a:t>
            </a:r>
            <a:r>
              <a:rPr lang="en-US" altLang="en-US" sz="1800" dirty="0">
                <a:solidFill>
                  <a:schemeClr val="tx1"/>
                </a:solidFill>
                <a:latin typeface="Arial" panose="020B0604020202020204" pitchFamily="34" charset="0"/>
              </a:rPr>
              <a:t> </a:t>
            </a:r>
          </a:p>
          <a:p>
            <a:pPr lvl="0" eaLnBrk="0" fontAlgn="base" hangingPunct="0">
              <a:spcBef>
                <a:spcPct val="0"/>
              </a:spcBef>
              <a:spcAft>
                <a:spcPct val="0"/>
              </a:spcAft>
              <a:buClrTx/>
            </a:pPr>
            <a:r>
              <a:rPr lang="en-US" altLang="en-US" sz="1800"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4 BHK is also very popular</a:t>
            </a:r>
            <a:r>
              <a:rPr lang="en-US" altLang="en-US" sz="1800"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endParaRPr lang="en-US" altLang="en-US" sz="1800" b="1"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2 BHK has moderate availability</a:t>
            </a:r>
            <a:r>
              <a:rPr lang="en-US" altLang="en-US" sz="1800"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endParaRPr lang="en-US" altLang="en-US" sz="1800" b="1"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1 BHK is very low</a:t>
            </a:r>
            <a:r>
              <a:rPr lang="en-US" altLang="en-US" sz="1800"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endParaRPr lang="en-US" altLang="en-US" sz="1800" b="1"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Luxury segment (5+ BHK) is rare</a:t>
            </a:r>
            <a:r>
              <a:rPr lang="en-US" altLang="en-US" sz="1800" dirty="0">
                <a:solidFill>
                  <a:schemeClr val="tx1"/>
                </a:solidFill>
                <a:latin typeface="Arial" panose="020B0604020202020204" pitchFamily="34" charset="0"/>
              </a:rPr>
              <a:t> </a:t>
            </a:r>
          </a:p>
          <a:p>
            <a:pPr lvl="0" eaLnBrk="0" fontAlgn="base" hangingPunct="0">
              <a:spcBef>
                <a:spcPct val="0"/>
              </a:spcBef>
              <a:spcAft>
                <a:spcPct val="0"/>
              </a:spcAft>
              <a:buClrTx/>
            </a:pPr>
            <a:endParaRPr lang="en-US" altLang="en-US" sz="1800" dirty="0">
              <a:solidFill>
                <a:schemeClr val="tx1"/>
              </a:solidFill>
              <a:latin typeface="Arial" panose="020B0604020202020204" pitchFamily="34" charset="0"/>
            </a:endParaRPr>
          </a:p>
        </p:txBody>
      </p:sp>
    </p:spTree>
    <p:extLst>
      <p:ext uri="{BB962C8B-B14F-4D97-AF65-F5344CB8AC3E}">
        <p14:creationId xmlns:p14="http://schemas.microsoft.com/office/powerpoint/2010/main" val="1688184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95DE2E-A500-7CA8-A432-43F6BB3D6A24}"/>
              </a:ext>
            </a:extLst>
          </p:cNvPr>
          <p:cNvPicPr>
            <a:picLocks noChangeAspect="1"/>
          </p:cNvPicPr>
          <p:nvPr/>
        </p:nvPicPr>
        <p:blipFill>
          <a:blip r:embed="rId2"/>
          <a:stretch>
            <a:fillRect/>
          </a:stretch>
        </p:blipFill>
        <p:spPr>
          <a:xfrm>
            <a:off x="834903" y="1227740"/>
            <a:ext cx="4730993" cy="4944459"/>
          </a:xfrm>
          <a:prstGeom prst="rect">
            <a:avLst/>
          </a:prstGeom>
        </p:spPr>
      </p:pic>
      <p:sp>
        <p:nvSpPr>
          <p:cNvPr id="4" name="TextBox 3">
            <a:extLst>
              <a:ext uri="{FF2B5EF4-FFF2-40B4-BE49-F238E27FC236}">
                <a16:creationId xmlns:a16="http://schemas.microsoft.com/office/drawing/2014/main" id="{E5089D0A-D1DF-D7F1-9B85-5CBCF026EED0}"/>
              </a:ext>
            </a:extLst>
          </p:cNvPr>
          <p:cNvSpPr txBox="1"/>
          <p:nvPr/>
        </p:nvSpPr>
        <p:spPr>
          <a:xfrm>
            <a:off x="1730829" y="424543"/>
            <a:ext cx="8958942"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Data Distribution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C5ADC37-3349-1CCC-4944-C4AEE26A7900}"/>
              </a:ext>
            </a:extLst>
          </p:cNvPr>
          <p:cNvSpPr txBox="1"/>
          <p:nvPr/>
        </p:nvSpPr>
        <p:spPr>
          <a:xfrm>
            <a:off x="6379029" y="1436914"/>
            <a:ext cx="5159828" cy="3046988"/>
          </a:xfrm>
          <a:prstGeom prst="rect">
            <a:avLst/>
          </a:prstGeom>
          <a:noFill/>
        </p:spPr>
        <p:txBody>
          <a:bodyPr wrap="square" rtlCol="0">
            <a:spAutoFit/>
          </a:bodyPr>
          <a:lstStyle/>
          <a:p>
            <a:r>
              <a:rPr lang="en-US" sz="2400" dirty="0"/>
              <a:t>The Data is Right skewed Data.in the data Most Houses are from 1cr to 10 </a:t>
            </a:r>
            <a:r>
              <a:rPr lang="en-US" sz="2400" dirty="0" err="1"/>
              <a:t>cr</a:t>
            </a:r>
            <a:r>
              <a:rPr lang="en-US" sz="2400" dirty="0"/>
              <a:t> around 350 flats are 1 </a:t>
            </a:r>
            <a:r>
              <a:rPr lang="en-US" sz="2400" dirty="0" err="1"/>
              <a:t>cr</a:t>
            </a:r>
            <a:r>
              <a:rPr lang="en-US" sz="2400" dirty="0"/>
              <a:t> to 2 cr.</a:t>
            </a:r>
          </a:p>
          <a:p>
            <a:endParaRPr lang="en-US" sz="2400" dirty="0"/>
          </a:p>
          <a:p>
            <a:r>
              <a:rPr lang="en-US" sz="2400" dirty="0"/>
              <a:t>So according to these we can find out that 1 </a:t>
            </a:r>
            <a:r>
              <a:rPr lang="en-US" sz="2400" dirty="0" err="1"/>
              <a:t>cr</a:t>
            </a:r>
            <a:r>
              <a:rPr lang="en-US" sz="2400" dirty="0"/>
              <a:t> to 2 </a:t>
            </a:r>
            <a:r>
              <a:rPr lang="en-US" sz="2400" dirty="0" err="1"/>
              <a:t>cr</a:t>
            </a:r>
            <a:r>
              <a:rPr lang="en-US" sz="2400" dirty="0"/>
              <a:t> are affordable that’s why there </a:t>
            </a:r>
            <a:r>
              <a:rPr lang="en-US" sz="2400" dirty="0" err="1"/>
              <a:t>availaibility</a:t>
            </a:r>
            <a:r>
              <a:rPr lang="en-US" sz="2400" dirty="0"/>
              <a:t> is more. </a:t>
            </a:r>
            <a:endParaRPr lang="en-IN" sz="2400" dirty="0"/>
          </a:p>
        </p:txBody>
      </p:sp>
    </p:spTree>
    <p:extLst>
      <p:ext uri="{BB962C8B-B14F-4D97-AF65-F5344CB8AC3E}">
        <p14:creationId xmlns:p14="http://schemas.microsoft.com/office/powerpoint/2010/main" val="2410542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77304E-130F-2322-7DAB-27BAE74B6FA5}"/>
              </a:ext>
            </a:extLst>
          </p:cNvPr>
          <p:cNvSpPr txBox="1"/>
          <p:nvPr/>
        </p:nvSpPr>
        <p:spPr>
          <a:xfrm>
            <a:off x="1" y="370114"/>
            <a:ext cx="1219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Distribution by </a:t>
            </a:r>
            <a:r>
              <a:rPr lang="en-US" sz="2800" b="1" dirty="0" err="1">
                <a:solidFill>
                  <a:srgbClr val="FF0000"/>
                </a:solidFill>
                <a:latin typeface="Times New Roman" panose="02020603050405020304" pitchFamily="18" charset="0"/>
                <a:cs typeface="Times New Roman" panose="02020603050405020304" pitchFamily="18" charset="0"/>
              </a:rPr>
              <a:t>sqft</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8F8BD39-10D0-7EDC-1917-B8F5F3C712E4}"/>
              </a:ext>
            </a:extLst>
          </p:cNvPr>
          <p:cNvPicPr>
            <a:picLocks noChangeAspect="1"/>
          </p:cNvPicPr>
          <p:nvPr/>
        </p:nvPicPr>
        <p:blipFill>
          <a:blip r:embed="rId2"/>
          <a:stretch>
            <a:fillRect/>
          </a:stretch>
        </p:blipFill>
        <p:spPr>
          <a:xfrm>
            <a:off x="206829" y="893334"/>
            <a:ext cx="5236028" cy="5736066"/>
          </a:xfrm>
          <a:prstGeom prst="rect">
            <a:avLst/>
          </a:prstGeom>
        </p:spPr>
      </p:pic>
      <p:sp>
        <p:nvSpPr>
          <p:cNvPr id="5" name="TextBox 4">
            <a:extLst>
              <a:ext uri="{FF2B5EF4-FFF2-40B4-BE49-F238E27FC236}">
                <a16:creationId xmlns:a16="http://schemas.microsoft.com/office/drawing/2014/main" id="{21B8192C-EFA8-D730-8CA6-292EFFB9C82D}"/>
              </a:ext>
            </a:extLst>
          </p:cNvPr>
          <p:cNvSpPr txBox="1"/>
          <p:nvPr/>
        </p:nvSpPr>
        <p:spPr>
          <a:xfrm>
            <a:off x="5943600" y="1284514"/>
            <a:ext cx="5617029" cy="738664"/>
          </a:xfrm>
          <a:prstGeom prst="rect">
            <a:avLst/>
          </a:prstGeom>
          <a:noFill/>
        </p:spPr>
        <p:txBody>
          <a:bodyPr wrap="square" rtlCol="0">
            <a:spAutoFit/>
          </a:bodyPr>
          <a:lstStyle/>
          <a:p>
            <a:endParaRPr lang="en-US" dirty="0"/>
          </a:p>
          <a:p>
            <a:endParaRPr lang="en-US" dirty="0"/>
          </a:p>
          <a:p>
            <a:endParaRPr lang="en-IN" dirty="0"/>
          </a:p>
        </p:txBody>
      </p:sp>
      <p:sp>
        <p:nvSpPr>
          <p:cNvPr id="6" name="TextBox 5">
            <a:extLst>
              <a:ext uri="{FF2B5EF4-FFF2-40B4-BE49-F238E27FC236}">
                <a16:creationId xmlns:a16="http://schemas.microsoft.com/office/drawing/2014/main" id="{816EAE1A-411E-FB60-6CAC-58821DE9E0AE}"/>
              </a:ext>
            </a:extLst>
          </p:cNvPr>
          <p:cNvSpPr txBox="1"/>
          <p:nvPr/>
        </p:nvSpPr>
        <p:spPr>
          <a:xfrm>
            <a:off x="5682343" y="1208314"/>
            <a:ext cx="5878286" cy="5324535"/>
          </a:xfrm>
          <a:prstGeom prst="rect">
            <a:avLst/>
          </a:prstGeom>
          <a:noFill/>
        </p:spPr>
        <p:txBody>
          <a:bodyPr wrap="square" rtlCol="0">
            <a:spAutoFit/>
          </a:bodyPr>
          <a:lstStyle/>
          <a:p>
            <a:r>
              <a:rPr lang="en-US" sz="2000" b="1" dirty="0"/>
              <a:t>1. Most properties are between 1000–2000 </a:t>
            </a:r>
            <a:r>
              <a:rPr lang="en-US" sz="2000" b="1" dirty="0" err="1"/>
              <a:t>sqft</a:t>
            </a:r>
            <a:r>
              <a:rPr lang="en-US" sz="2000" dirty="0"/>
              <a:t> </a:t>
            </a:r>
          </a:p>
          <a:p>
            <a:pPr lvl="1"/>
            <a:r>
              <a:rPr lang="en-US" sz="2000" dirty="0"/>
              <a:t>The peak (highest point) is around this range </a:t>
            </a:r>
          </a:p>
          <a:p>
            <a:pPr lvl="1"/>
            <a:r>
              <a:rPr lang="en-US" sz="2000" dirty="0"/>
              <a:t>This is the </a:t>
            </a:r>
            <a:r>
              <a:rPr lang="en-US" sz="2000" b="1" dirty="0"/>
              <a:t>most common property size.</a:t>
            </a:r>
          </a:p>
          <a:p>
            <a:pPr lvl="1"/>
            <a:endParaRPr lang="en-US" sz="2000" dirty="0"/>
          </a:p>
          <a:p>
            <a:r>
              <a:rPr lang="en-US" sz="2000" b="1" dirty="0"/>
              <a:t>2. Right-skewed distribution.</a:t>
            </a:r>
            <a:endParaRPr lang="en-US" sz="2000" dirty="0"/>
          </a:p>
          <a:p>
            <a:pPr lvl="1"/>
            <a:r>
              <a:rPr lang="en-US" sz="2000" dirty="0"/>
              <a:t>The curve is </a:t>
            </a:r>
            <a:r>
              <a:rPr lang="en-US" sz="2000" b="1" dirty="0"/>
              <a:t>skewed to the right.</a:t>
            </a:r>
            <a:r>
              <a:rPr lang="en-US" sz="2000" dirty="0"/>
              <a:t> </a:t>
            </a:r>
          </a:p>
          <a:p>
            <a:pPr lvl="1"/>
            <a:r>
              <a:rPr lang="en-US" sz="2000" dirty="0"/>
              <a:t>Meaning there are </a:t>
            </a:r>
            <a:r>
              <a:rPr lang="en-US" sz="2000" b="1" dirty="0"/>
              <a:t>few very large properties (outliers).</a:t>
            </a:r>
          </a:p>
          <a:p>
            <a:pPr lvl="1"/>
            <a:r>
              <a:rPr lang="en-US" sz="2000" dirty="0"/>
              <a:t> </a:t>
            </a:r>
          </a:p>
          <a:p>
            <a:r>
              <a:rPr lang="en-US" sz="2000" b="1" dirty="0"/>
              <a:t>3. Large properties are rare.</a:t>
            </a:r>
            <a:endParaRPr lang="en-US" sz="2000" dirty="0"/>
          </a:p>
          <a:p>
            <a:pPr lvl="1"/>
            <a:r>
              <a:rPr lang="en-US" sz="2000" dirty="0"/>
              <a:t>Beyond </a:t>
            </a:r>
            <a:r>
              <a:rPr lang="en-US" sz="2000" b="1" dirty="0"/>
              <a:t>4000–5000 </a:t>
            </a:r>
            <a:r>
              <a:rPr lang="en-US" sz="2000" b="1" dirty="0" err="1"/>
              <a:t>sqft</a:t>
            </a:r>
            <a:r>
              <a:rPr lang="en-US" sz="2000" dirty="0"/>
              <a:t>, density drops sharply. </a:t>
            </a:r>
          </a:p>
          <a:p>
            <a:pPr lvl="1"/>
            <a:r>
              <a:rPr lang="en-US" sz="2000" dirty="0"/>
              <a:t>Indicates </a:t>
            </a:r>
            <a:r>
              <a:rPr lang="en-US" sz="2000" b="1" dirty="0"/>
              <a:t>luxury or premium homes are limited.</a:t>
            </a:r>
          </a:p>
          <a:p>
            <a:pPr lvl="1"/>
            <a:r>
              <a:rPr lang="en-US" sz="2000" dirty="0"/>
              <a:t> </a:t>
            </a:r>
          </a:p>
          <a:p>
            <a:r>
              <a:rPr lang="en-US" sz="2000" b="1" dirty="0"/>
              <a:t>4. Long tail towards higher </a:t>
            </a:r>
            <a:r>
              <a:rPr lang="en-US" sz="2000" b="1" dirty="0" err="1"/>
              <a:t>sqft</a:t>
            </a:r>
            <a:r>
              <a:rPr lang="en-US" sz="2000" dirty="0"/>
              <a:t> .</a:t>
            </a:r>
          </a:p>
          <a:p>
            <a:pPr lvl="1"/>
            <a:r>
              <a:rPr lang="en-US" sz="2000" dirty="0"/>
              <a:t>Extends up to </a:t>
            </a:r>
            <a:r>
              <a:rPr lang="en-US" sz="2000" b="1" dirty="0"/>
              <a:t>10,000 </a:t>
            </a:r>
            <a:r>
              <a:rPr lang="en-US" sz="2000" b="1" dirty="0" err="1"/>
              <a:t>sqft</a:t>
            </a:r>
            <a:r>
              <a:rPr lang="en-US" sz="2000" b="1" dirty="0"/>
              <a:t>.</a:t>
            </a:r>
            <a:r>
              <a:rPr lang="en-US" sz="2000" dirty="0"/>
              <a:t> </a:t>
            </a:r>
          </a:p>
          <a:p>
            <a:pPr lvl="1"/>
            <a:r>
              <a:rPr lang="en-US" sz="2000" dirty="0"/>
              <a:t>Shows presence of </a:t>
            </a:r>
            <a:r>
              <a:rPr lang="en-US" sz="2000" b="1" dirty="0"/>
              <a:t>extreme values/outliers.</a:t>
            </a:r>
            <a:r>
              <a:rPr lang="en-US" sz="2000" dirty="0"/>
              <a:t> </a:t>
            </a:r>
          </a:p>
          <a:p>
            <a:endParaRPr lang="en-IN" sz="2000" dirty="0"/>
          </a:p>
        </p:txBody>
      </p:sp>
    </p:spTree>
    <p:extLst>
      <p:ext uri="{BB962C8B-B14F-4D97-AF65-F5344CB8AC3E}">
        <p14:creationId xmlns:p14="http://schemas.microsoft.com/office/powerpoint/2010/main" val="1606044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A4EF16-92C4-1E14-DE95-A0D9F5B2C6B6}"/>
              </a:ext>
            </a:extLst>
          </p:cNvPr>
          <p:cNvSpPr txBox="1"/>
          <p:nvPr/>
        </p:nvSpPr>
        <p:spPr>
          <a:xfrm>
            <a:off x="0" y="195943"/>
            <a:ext cx="1219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Data Distribution by Furnished and Unfurnished</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47A1224-EEA7-F53B-8FFA-63E3DEC16D86}"/>
              </a:ext>
            </a:extLst>
          </p:cNvPr>
          <p:cNvPicPr>
            <a:picLocks noChangeAspect="1"/>
          </p:cNvPicPr>
          <p:nvPr/>
        </p:nvPicPr>
        <p:blipFill>
          <a:blip r:embed="rId2"/>
          <a:stretch>
            <a:fillRect/>
          </a:stretch>
        </p:blipFill>
        <p:spPr>
          <a:xfrm>
            <a:off x="304801" y="1575666"/>
            <a:ext cx="4865913" cy="4131210"/>
          </a:xfrm>
          <a:prstGeom prst="rect">
            <a:avLst/>
          </a:prstGeom>
        </p:spPr>
      </p:pic>
      <p:sp>
        <p:nvSpPr>
          <p:cNvPr id="7" name="TextBox 6">
            <a:extLst>
              <a:ext uri="{FF2B5EF4-FFF2-40B4-BE49-F238E27FC236}">
                <a16:creationId xmlns:a16="http://schemas.microsoft.com/office/drawing/2014/main" id="{AF6EE0B3-5FE5-B81C-5E30-9FE05DDF8B8B}"/>
              </a:ext>
            </a:extLst>
          </p:cNvPr>
          <p:cNvSpPr txBox="1"/>
          <p:nvPr/>
        </p:nvSpPr>
        <p:spPr>
          <a:xfrm>
            <a:off x="5704114" y="1012371"/>
            <a:ext cx="5910943" cy="5105400"/>
          </a:xfrm>
          <a:prstGeom prst="rect">
            <a:avLst/>
          </a:prstGeom>
          <a:noFill/>
        </p:spPr>
        <p:txBody>
          <a:bodyPr wrap="square" rtlCol="0">
            <a:spAutoFit/>
          </a:bodyPr>
          <a:lstStyle/>
          <a:p>
            <a:endParaRPr lang="en-IN" dirty="0"/>
          </a:p>
        </p:txBody>
      </p:sp>
      <p:sp>
        <p:nvSpPr>
          <p:cNvPr id="12" name="TextBox 11">
            <a:extLst>
              <a:ext uri="{FF2B5EF4-FFF2-40B4-BE49-F238E27FC236}">
                <a16:creationId xmlns:a16="http://schemas.microsoft.com/office/drawing/2014/main" id="{03047A0C-E141-CE49-D38D-5A00E6FE3BA2}"/>
              </a:ext>
            </a:extLst>
          </p:cNvPr>
          <p:cNvSpPr txBox="1"/>
          <p:nvPr/>
        </p:nvSpPr>
        <p:spPr>
          <a:xfrm>
            <a:off x="5453744" y="1153886"/>
            <a:ext cx="6433456" cy="6001643"/>
          </a:xfrm>
          <a:prstGeom prst="rect">
            <a:avLst/>
          </a:prstGeom>
          <a:noFill/>
        </p:spPr>
        <p:txBody>
          <a:bodyPr wrap="square" rtlCol="0">
            <a:spAutoFit/>
          </a:bodyPr>
          <a:lstStyle/>
          <a:p>
            <a:pPr lvl="0" eaLnBrk="0" fontAlgn="base" hangingPunct="0">
              <a:spcBef>
                <a:spcPct val="0"/>
              </a:spcBef>
              <a:spcAft>
                <a:spcPct val="0"/>
              </a:spcAft>
              <a:buClrTx/>
            </a:pPr>
            <a:r>
              <a:rPr lang="en-US" altLang="en-US" sz="2800" b="1" dirty="0">
                <a:solidFill>
                  <a:schemeClr val="tx1"/>
                </a:solidFill>
                <a:latin typeface="Google Sans"/>
              </a:rPr>
              <a:t>Key Insights</a:t>
            </a:r>
            <a:endParaRPr lang="en-US" altLang="en-US" sz="1100" b="1" dirty="0">
              <a:solidFill>
                <a:schemeClr val="tx1"/>
              </a:solidFill>
            </a:endParaRPr>
          </a:p>
          <a:p>
            <a:pPr lvl="0" eaLnBrk="0" fontAlgn="base" hangingPunct="0">
              <a:spcBef>
                <a:spcPct val="0"/>
              </a:spcBef>
              <a:spcAft>
                <a:spcPct val="0"/>
              </a:spcAft>
              <a:buClrTx/>
              <a:buFontTx/>
              <a:buChar char="•"/>
            </a:pPr>
            <a:r>
              <a:rPr lang="en-US" altLang="en-US" sz="2800" dirty="0">
                <a:solidFill>
                  <a:schemeClr val="tx1"/>
                </a:solidFill>
                <a:latin typeface="Google Sans"/>
              </a:rPr>
              <a:t>Dominant Category: The majority of properties are Unfurnished, accounting for 76.0% of the total data.</a:t>
            </a:r>
          </a:p>
          <a:p>
            <a:pPr lvl="0" eaLnBrk="0" fontAlgn="base" hangingPunct="0">
              <a:spcBef>
                <a:spcPct val="0"/>
              </a:spcBef>
              <a:spcAft>
                <a:spcPct val="0"/>
              </a:spcAft>
              <a:buClrTx/>
            </a:pPr>
            <a:endParaRPr lang="en-US" altLang="en-US" sz="2800" dirty="0">
              <a:solidFill>
                <a:schemeClr val="tx1"/>
              </a:solidFill>
              <a:latin typeface="Google Sans"/>
            </a:endParaRPr>
          </a:p>
          <a:p>
            <a:pPr lvl="0" eaLnBrk="0" fontAlgn="base" hangingPunct="0">
              <a:spcBef>
                <a:spcPct val="0"/>
              </a:spcBef>
              <a:spcAft>
                <a:spcPct val="0"/>
              </a:spcAft>
              <a:buClrTx/>
              <a:buFontTx/>
              <a:buChar char="•"/>
            </a:pPr>
            <a:r>
              <a:rPr lang="en-US" altLang="en-US" sz="2800" dirty="0">
                <a:solidFill>
                  <a:schemeClr val="tx1"/>
                </a:solidFill>
                <a:latin typeface="Google Sans"/>
              </a:rPr>
              <a:t>Minority Category: Only 24.0% of the properties are Furnished.</a:t>
            </a:r>
          </a:p>
          <a:p>
            <a:pPr lvl="0" eaLnBrk="0" fontAlgn="base" hangingPunct="0">
              <a:spcBef>
                <a:spcPct val="0"/>
              </a:spcBef>
              <a:spcAft>
                <a:spcPct val="0"/>
              </a:spcAft>
              <a:buClrTx/>
            </a:pPr>
            <a:endParaRPr lang="en-US" altLang="en-US" sz="2800" dirty="0">
              <a:solidFill>
                <a:schemeClr val="tx1"/>
              </a:solidFill>
              <a:latin typeface="Google Sans"/>
            </a:endParaRPr>
          </a:p>
          <a:p>
            <a:pPr lvl="0" eaLnBrk="0" fontAlgn="base" hangingPunct="0">
              <a:spcBef>
                <a:spcPct val="0"/>
              </a:spcBef>
              <a:spcAft>
                <a:spcPct val="0"/>
              </a:spcAft>
              <a:buClrTx/>
              <a:buFontTx/>
              <a:buChar char="•"/>
            </a:pPr>
            <a:r>
              <a:rPr lang="en-US" altLang="en-US" sz="2800" dirty="0">
                <a:solidFill>
                  <a:schemeClr val="tx1"/>
                </a:solidFill>
                <a:latin typeface="Google Sans"/>
              </a:rPr>
              <a:t>Ratio: There are approximately 3 un-furnished properties for every 1 furnished property in this dataset.</a:t>
            </a:r>
          </a:p>
          <a:p>
            <a:pPr lvl="0" eaLnBrk="0" fontAlgn="base" hangingPunct="0">
              <a:spcBef>
                <a:spcPct val="0"/>
              </a:spcBef>
              <a:spcAft>
                <a:spcPct val="0"/>
              </a:spcAft>
              <a:buClrTx/>
            </a:pPr>
            <a:endParaRPr lang="en-US" altLang="en-US" sz="4000" dirty="0">
              <a:solidFill>
                <a:schemeClr val="tx1"/>
              </a:solidFill>
              <a:latin typeface="Arial" panose="020B0604020202020204" pitchFamily="34" charset="0"/>
            </a:endParaRPr>
          </a:p>
          <a:p>
            <a:endParaRPr lang="en-IN" sz="2800" dirty="0">
              <a:solidFill>
                <a:schemeClr val="tx1"/>
              </a:solidFill>
            </a:endParaRPr>
          </a:p>
        </p:txBody>
      </p:sp>
    </p:spTree>
    <p:extLst>
      <p:ext uri="{BB962C8B-B14F-4D97-AF65-F5344CB8AC3E}">
        <p14:creationId xmlns:p14="http://schemas.microsoft.com/office/powerpoint/2010/main" val="887464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E4FBBD-1022-FA20-C2EC-6849D2073684}"/>
              </a:ext>
            </a:extLst>
          </p:cNvPr>
          <p:cNvSpPr txBox="1"/>
          <p:nvPr/>
        </p:nvSpPr>
        <p:spPr>
          <a:xfrm>
            <a:off x="0" y="803136"/>
            <a:ext cx="1219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City Wise Price Distribution</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728A10F-79C2-9CA4-B80F-FA72D4C03D25}"/>
              </a:ext>
            </a:extLst>
          </p:cNvPr>
          <p:cNvPicPr>
            <a:picLocks noChangeAspect="1"/>
          </p:cNvPicPr>
          <p:nvPr/>
        </p:nvPicPr>
        <p:blipFill>
          <a:blip r:embed="rId2"/>
          <a:stretch>
            <a:fillRect/>
          </a:stretch>
        </p:blipFill>
        <p:spPr>
          <a:xfrm>
            <a:off x="250372" y="1502909"/>
            <a:ext cx="5101429" cy="4757057"/>
          </a:xfrm>
          <a:prstGeom prst="rect">
            <a:avLst/>
          </a:prstGeom>
        </p:spPr>
      </p:pic>
      <p:sp>
        <p:nvSpPr>
          <p:cNvPr id="13" name="TextBox 12">
            <a:extLst>
              <a:ext uri="{FF2B5EF4-FFF2-40B4-BE49-F238E27FC236}">
                <a16:creationId xmlns:a16="http://schemas.microsoft.com/office/drawing/2014/main" id="{1F0D38AF-86E1-BB05-5D34-4EC6BDD7D5D6}"/>
              </a:ext>
            </a:extLst>
          </p:cNvPr>
          <p:cNvSpPr txBox="1"/>
          <p:nvPr/>
        </p:nvSpPr>
        <p:spPr>
          <a:xfrm>
            <a:off x="5695496" y="1680834"/>
            <a:ext cx="5921829" cy="3785652"/>
          </a:xfrm>
          <a:prstGeom prst="rect">
            <a:avLst/>
          </a:prstGeom>
          <a:noFill/>
        </p:spPr>
        <p:txBody>
          <a:bodyPr wrap="square" rtlCol="0">
            <a:spAutoFit/>
          </a:bodyPr>
          <a:lstStyle/>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Arial "/>
              </a:rPr>
              <a:t>Mumbai has the highest average property price (~9 Crore).</a:t>
            </a:r>
          </a:p>
          <a:p>
            <a:pPr lvl="0" eaLnBrk="0" fontAlgn="base" hangingPunct="0">
              <a:spcBef>
                <a:spcPct val="0"/>
              </a:spcBef>
              <a:spcAft>
                <a:spcPct val="0"/>
              </a:spcAft>
              <a:buClrTx/>
            </a:pPr>
            <a:endParaRPr lang="en-US" altLang="en-US" sz="2000" dirty="0">
              <a:solidFill>
                <a:schemeClr val="tx1"/>
              </a:solidFill>
              <a:latin typeface="Arial "/>
            </a:endParaRP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Arial "/>
              </a:rPr>
              <a:t>Kolkata is the most affordable city in the dataset.</a:t>
            </a:r>
          </a:p>
          <a:p>
            <a:pPr lvl="0" eaLnBrk="0" fontAlgn="base" hangingPunct="0">
              <a:spcBef>
                <a:spcPct val="0"/>
              </a:spcBef>
              <a:spcAft>
                <a:spcPct val="0"/>
              </a:spcAft>
              <a:buClrTx/>
            </a:pPr>
            <a:endParaRPr lang="en-US" altLang="en-US" sz="2000" dirty="0">
              <a:solidFill>
                <a:schemeClr val="tx1"/>
              </a:solidFill>
              <a:latin typeface="Arial "/>
            </a:endParaRP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Arial "/>
              </a:rPr>
              <a:t>Delhi and Noida show the widest price fluctuations between listings.</a:t>
            </a:r>
          </a:p>
          <a:p>
            <a:pPr lvl="0" eaLnBrk="0" fontAlgn="base" hangingPunct="0">
              <a:spcBef>
                <a:spcPct val="0"/>
              </a:spcBef>
              <a:spcAft>
                <a:spcPct val="0"/>
              </a:spcAft>
              <a:buClrTx/>
            </a:pPr>
            <a:endParaRPr lang="en-US" altLang="en-US" sz="2000" dirty="0">
              <a:solidFill>
                <a:schemeClr val="tx1"/>
              </a:solidFill>
              <a:latin typeface="Arial "/>
            </a:endParaRP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Arial "/>
              </a:rPr>
              <a:t>Pune and Ahmedabad offer the most consistent, stable pricing.</a:t>
            </a:r>
          </a:p>
          <a:p>
            <a:pPr lvl="0" eaLnBrk="0" fontAlgn="base" hangingPunct="0">
              <a:spcBef>
                <a:spcPct val="0"/>
              </a:spcBef>
              <a:spcAft>
                <a:spcPct val="0"/>
              </a:spcAft>
              <a:buClrTx/>
            </a:pPr>
            <a:endParaRPr lang="en-US" altLang="en-US" sz="2000" dirty="0">
              <a:solidFill>
                <a:schemeClr val="tx1"/>
              </a:solidFill>
              <a:latin typeface="Arial "/>
            </a:endParaRPr>
          </a:p>
        </p:txBody>
      </p:sp>
      <p:sp>
        <p:nvSpPr>
          <p:cNvPr id="14" name="Rectangle 19">
            <a:extLst>
              <a:ext uri="{FF2B5EF4-FFF2-40B4-BE49-F238E27FC236}">
                <a16:creationId xmlns:a16="http://schemas.microsoft.com/office/drawing/2014/main" id="{5240EB5E-9123-B200-FADB-885CF70DDAEE}"/>
              </a:ext>
            </a:extLst>
          </p:cNvPr>
          <p:cNvSpPr>
            <a:spLocks noChangeArrowheads="1"/>
          </p:cNvSpPr>
          <p:nvPr/>
        </p:nvSpPr>
        <p:spPr bwMode="auto">
          <a:xfrm>
            <a:off x="0" y="-228239"/>
            <a:ext cx="65" cy="456479"/>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6176"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26">
            <a:extLst>
              <a:ext uri="{FF2B5EF4-FFF2-40B4-BE49-F238E27FC236}">
                <a16:creationId xmlns:a16="http://schemas.microsoft.com/office/drawing/2014/main" id="{8A6A79C3-6399-D447-A164-8E0409BB8B33}"/>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27">
            <a:extLst>
              <a:ext uri="{FF2B5EF4-FFF2-40B4-BE49-F238E27FC236}">
                <a16:creationId xmlns:a16="http://schemas.microsoft.com/office/drawing/2014/main" id="{571A71D6-30B5-15A1-98A2-D1F431D9C05B}"/>
              </a:ext>
            </a:extLst>
          </p:cNvPr>
          <p:cNvSpPr>
            <a:spLocks noChangeArrowheads="1"/>
          </p:cNvSpPr>
          <p:nvPr/>
        </p:nvSpPr>
        <p:spPr bwMode="auto">
          <a:xfrm>
            <a:off x="0" y="15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092" name="Picture 20">
            <a:extLst>
              <a:ext uri="{FF2B5EF4-FFF2-40B4-BE49-F238E27FC236}">
                <a16:creationId xmlns:a16="http://schemas.microsoft.com/office/drawing/2014/main" id="{4F2152D3-EB3A-2EF9-2BB3-F4504A81B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56594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3" name="Picture 21">
            <a:extLst>
              <a:ext uri="{FF2B5EF4-FFF2-40B4-BE49-F238E27FC236}">
                <a16:creationId xmlns:a16="http://schemas.microsoft.com/office/drawing/2014/main" id="{A6A3F78C-4D0A-C5C8-BB64-EAFD566C3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41354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a:extLst>
              <a:ext uri="{FF2B5EF4-FFF2-40B4-BE49-F238E27FC236}">
                <a16:creationId xmlns:a16="http://schemas.microsoft.com/office/drawing/2014/main" id="{A7056C03-0B10-CDDD-9137-567D6063A1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2428875"/>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5" name="Picture 23">
            <a:extLst>
              <a:ext uri="{FF2B5EF4-FFF2-40B4-BE49-F238E27FC236}">
                <a16:creationId xmlns:a16="http://schemas.microsoft.com/office/drawing/2014/main" id="{5FF5ABEF-CDB5-8267-5B85-191B63E75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650875"/>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24">
            <a:extLst>
              <a:ext uri="{FF2B5EF4-FFF2-40B4-BE49-F238E27FC236}">
                <a16:creationId xmlns:a16="http://schemas.microsoft.com/office/drawing/2014/main" id="{57385040-E16F-1CA0-81D0-3F384F6A7C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2174875"/>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7" name="Picture 25">
            <a:extLst>
              <a:ext uri="{FF2B5EF4-FFF2-40B4-BE49-F238E27FC236}">
                <a16:creationId xmlns:a16="http://schemas.microsoft.com/office/drawing/2014/main" id="{D11B8FC4-86E5-0977-A517-91D3B9FF62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3881438"/>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8711A81-35C4-1CDA-C91A-C2BFF01A9A99}"/>
              </a:ext>
            </a:extLst>
          </p:cNvPr>
          <p:cNvSpPr txBox="1"/>
          <p:nvPr/>
        </p:nvSpPr>
        <p:spPr>
          <a:xfrm>
            <a:off x="4223657" y="106812"/>
            <a:ext cx="3570515" cy="461665"/>
          </a:xfrm>
          <a:prstGeom prst="rect">
            <a:avLst/>
          </a:prstGeom>
          <a:noFill/>
        </p:spPr>
        <p:txBody>
          <a:bodyPr wrap="square" rtlCol="0">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Bivariate Analysis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5960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A7C01-3211-064E-75E3-FBE5AE906C6A}"/>
              </a:ext>
            </a:extLst>
          </p:cNvPr>
          <p:cNvSpPr txBox="1"/>
          <p:nvPr/>
        </p:nvSpPr>
        <p:spPr>
          <a:xfrm>
            <a:off x="1066800" y="348343"/>
            <a:ext cx="10570029"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Average Price by BHK</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0FBD761-20FD-1372-79BE-1C184AC1B485}"/>
              </a:ext>
            </a:extLst>
          </p:cNvPr>
          <p:cNvPicPr>
            <a:picLocks noChangeAspect="1"/>
          </p:cNvPicPr>
          <p:nvPr/>
        </p:nvPicPr>
        <p:blipFill>
          <a:blip r:embed="rId2"/>
          <a:stretch>
            <a:fillRect/>
          </a:stretch>
        </p:blipFill>
        <p:spPr>
          <a:xfrm>
            <a:off x="413659" y="1121229"/>
            <a:ext cx="6281056" cy="5072742"/>
          </a:xfrm>
          <a:prstGeom prst="rect">
            <a:avLst/>
          </a:prstGeom>
        </p:spPr>
      </p:pic>
      <p:sp>
        <p:nvSpPr>
          <p:cNvPr id="7" name="TextBox 6">
            <a:extLst>
              <a:ext uri="{FF2B5EF4-FFF2-40B4-BE49-F238E27FC236}">
                <a16:creationId xmlns:a16="http://schemas.microsoft.com/office/drawing/2014/main" id="{964EF9A6-D36E-48E0-7898-8C4D9BF22E37}"/>
              </a:ext>
            </a:extLst>
          </p:cNvPr>
          <p:cNvSpPr txBox="1"/>
          <p:nvPr/>
        </p:nvSpPr>
        <p:spPr>
          <a:xfrm>
            <a:off x="6847114" y="1524000"/>
            <a:ext cx="4931227" cy="5078313"/>
          </a:xfrm>
          <a:prstGeom prst="rect">
            <a:avLst/>
          </a:prstGeom>
          <a:noFill/>
        </p:spPr>
        <p:txBody>
          <a:bodyPr wrap="square" rtlCol="0">
            <a:spAutoFit/>
          </a:bodyPr>
          <a:lstStyle/>
          <a:p>
            <a:r>
              <a:rPr lang="en-US" sz="1800" b="1" dirty="0"/>
              <a:t>General Upward Trend</a:t>
            </a:r>
            <a:r>
              <a:rPr lang="en-US" sz="1800" dirty="0"/>
              <a:t>: There is a clear </a:t>
            </a:r>
            <a:r>
              <a:rPr lang="en-US" sz="1800" b="1" dirty="0"/>
              <a:t>positive correlation</a:t>
            </a:r>
            <a:r>
              <a:rPr lang="en-US" sz="1800" dirty="0"/>
              <a:t> between the number of bedrooms and the average price. As the BHK type increases, the cost generally rises.</a:t>
            </a:r>
          </a:p>
          <a:p>
            <a:endParaRPr lang="en-IN" sz="1800" dirty="0"/>
          </a:p>
          <a:p>
            <a:r>
              <a:rPr lang="en-US" sz="1800" b="1" dirty="0"/>
              <a:t>The 10 BHK Anomaly</a:t>
            </a:r>
            <a:r>
              <a:rPr lang="en-US" sz="1800" dirty="0"/>
              <a:t>: The 10.0 BHK category shows a massive spike to </a:t>
            </a:r>
            <a:r>
              <a:rPr lang="en-US" sz="1800" b="1" dirty="0"/>
              <a:t>500,000,000</a:t>
            </a:r>
            <a:r>
              <a:rPr lang="en-US" sz="1800" dirty="0"/>
              <a:t>.</a:t>
            </a:r>
          </a:p>
          <a:p>
            <a:endParaRPr lang="en-US" sz="1800" dirty="0"/>
          </a:p>
          <a:p>
            <a:r>
              <a:rPr lang="en-US" sz="1800" b="1" dirty="0"/>
              <a:t>Dips in Data</a:t>
            </a:r>
            <a:r>
              <a:rPr lang="en-US" sz="1800" dirty="0"/>
              <a:t>: Surprisingly, the </a:t>
            </a:r>
            <a:r>
              <a:rPr lang="en-US" sz="1800" b="1" dirty="0"/>
              <a:t>6.0 BHK</a:t>
            </a:r>
            <a:r>
              <a:rPr lang="en-US" sz="1800" dirty="0"/>
              <a:t> average is lower than the </a:t>
            </a:r>
            <a:r>
              <a:rPr lang="en-US" sz="1800" b="1" dirty="0"/>
              <a:t>5.0 BHK</a:t>
            </a:r>
            <a:r>
              <a:rPr lang="en-US" sz="1800" dirty="0"/>
              <a:t> average. This could suggest that the 6 BHK properties in this dataset are in less desirable locations or have smaller overall square foot than the 5 BHK units.</a:t>
            </a:r>
          </a:p>
          <a:p>
            <a:endParaRPr lang="en-IN" sz="1800" dirty="0"/>
          </a:p>
          <a:p>
            <a:endParaRPr lang="en-IN" sz="1800" dirty="0"/>
          </a:p>
        </p:txBody>
      </p:sp>
    </p:spTree>
    <p:extLst>
      <p:ext uri="{BB962C8B-B14F-4D97-AF65-F5344CB8AC3E}">
        <p14:creationId xmlns:p14="http://schemas.microsoft.com/office/powerpoint/2010/main" val="584466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79DD5D-6316-2F8E-9E2E-4861F82FF699}"/>
              </a:ext>
            </a:extLst>
          </p:cNvPr>
          <p:cNvSpPr txBox="1"/>
          <p:nvPr/>
        </p:nvSpPr>
        <p:spPr>
          <a:xfrm>
            <a:off x="1970314" y="413657"/>
            <a:ext cx="838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Relation Between Area and Price</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8AD63ED-A7F4-3DED-3D3B-CE585787A7AA}"/>
              </a:ext>
            </a:extLst>
          </p:cNvPr>
          <p:cNvPicPr>
            <a:picLocks noChangeAspect="1"/>
          </p:cNvPicPr>
          <p:nvPr/>
        </p:nvPicPr>
        <p:blipFill>
          <a:blip r:embed="rId2"/>
          <a:stretch>
            <a:fillRect/>
          </a:stretch>
        </p:blipFill>
        <p:spPr>
          <a:xfrm>
            <a:off x="489858" y="1297125"/>
            <a:ext cx="5519056" cy="4766219"/>
          </a:xfrm>
          <a:prstGeom prst="rect">
            <a:avLst/>
          </a:prstGeom>
        </p:spPr>
      </p:pic>
      <p:sp>
        <p:nvSpPr>
          <p:cNvPr id="5" name="TextBox 4">
            <a:extLst>
              <a:ext uri="{FF2B5EF4-FFF2-40B4-BE49-F238E27FC236}">
                <a16:creationId xmlns:a16="http://schemas.microsoft.com/office/drawing/2014/main" id="{EE3F45FA-B584-765F-3446-29FBEBF91838}"/>
              </a:ext>
            </a:extLst>
          </p:cNvPr>
          <p:cNvSpPr txBox="1"/>
          <p:nvPr/>
        </p:nvSpPr>
        <p:spPr>
          <a:xfrm>
            <a:off x="6183089" y="1709057"/>
            <a:ext cx="5410198" cy="3200876"/>
          </a:xfrm>
          <a:prstGeom prst="rect">
            <a:avLst/>
          </a:prstGeom>
          <a:noFill/>
        </p:spPr>
        <p:txBody>
          <a:bodyPr wrap="square" rtlCol="0">
            <a:spAutoFit/>
          </a:bodyPr>
          <a:lstStyle/>
          <a:p>
            <a:pPr marL="342900" indent="-342900">
              <a:buFont typeface="Arial" panose="020B0604020202020204" pitchFamily="34" charset="0"/>
              <a:buChar char="•"/>
            </a:pPr>
            <a:r>
              <a:rPr lang="en-US" sz="2000" b="1" dirty="0"/>
              <a:t>General Trend</a:t>
            </a:r>
            <a:r>
              <a:rPr lang="en-US" sz="2000" dirty="0"/>
              <a:t>: As the </a:t>
            </a:r>
            <a:r>
              <a:rPr lang="en-US" sz="2000" b="1" dirty="0"/>
              <a:t>Carpet Area</a:t>
            </a:r>
            <a:r>
              <a:rPr lang="en-US" sz="2000" dirty="0"/>
              <a:t> (x-axis) increases, the </a:t>
            </a:r>
            <a:r>
              <a:rPr lang="en-US" sz="2000" b="1" dirty="0"/>
              <a:t>Price</a:t>
            </a:r>
            <a:r>
              <a:rPr lang="en-US" sz="2000" dirty="0"/>
              <a:t> (y-axis) generally tends to rise as well. Most data points move from the bottom-left toward the top-right.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Correlation Strength</a:t>
            </a:r>
            <a:r>
              <a:rPr lang="en-US" sz="2000" dirty="0"/>
              <a:t>: It is a </a:t>
            </a:r>
            <a:r>
              <a:rPr lang="en-US" sz="2000" b="1" dirty="0"/>
              <a:t>moderate positive correlation.</a:t>
            </a:r>
          </a:p>
          <a:p>
            <a:endParaRPr lang="en-US" b="1" dirty="0"/>
          </a:p>
          <a:p>
            <a:endParaRPr lang="en-US" dirty="0"/>
          </a:p>
          <a:p>
            <a:endParaRPr lang="en-IN" dirty="0"/>
          </a:p>
        </p:txBody>
      </p:sp>
    </p:spTree>
    <p:extLst>
      <p:ext uri="{BB962C8B-B14F-4D97-AF65-F5344CB8AC3E}">
        <p14:creationId xmlns:p14="http://schemas.microsoft.com/office/powerpoint/2010/main" val="711449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D6A37B-42BB-D9EF-3FE3-12C1420D0ECE}"/>
              </a:ext>
            </a:extLst>
          </p:cNvPr>
          <p:cNvSpPr txBox="1"/>
          <p:nvPr/>
        </p:nvSpPr>
        <p:spPr>
          <a:xfrm>
            <a:off x="1611086" y="424543"/>
            <a:ext cx="8948057"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BHK Vs Price Distribution</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3A91BB3-E2E8-E1BB-FD33-284871587E92}"/>
              </a:ext>
            </a:extLst>
          </p:cNvPr>
          <p:cNvPicPr>
            <a:picLocks noChangeAspect="1"/>
          </p:cNvPicPr>
          <p:nvPr/>
        </p:nvPicPr>
        <p:blipFill>
          <a:blip r:embed="rId2"/>
          <a:stretch>
            <a:fillRect/>
          </a:stretch>
        </p:blipFill>
        <p:spPr>
          <a:xfrm>
            <a:off x="926084" y="1577432"/>
            <a:ext cx="4854230" cy="4616539"/>
          </a:xfrm>
          <a:prstGeom prst="rect">
            <a:avLst/>
          </a:prstGeom>
        </p:spPr>
      </p:pic>
      <p:sp>
        <p:nvSpPr>
          <p:cNvPr id="5" name="TextBox 4">
            <a:extLst>
              <a:ext uri="{FF2B5EF4-FFF2-40B4-BE49-F238E27FC236}">
                <a16:creationId xmlns:a16="http://schemas.microsoft.com/office/drawing/2014/main" id="{D9439159-A0F9-57D5-453A-1F2F4C75654B}"/>
              </a:ext>
            </a:extLst>
          </p:cNvPr>
          <p:cNvSpPr txBox="1"/>
          <p:nvPr/>
        </p:nvSpPr>
        <p:spPr>
          <a:xfrm>
            <a:off x="6052457" y="1685098"/>
            <a:ext cx="5508171" cy="4401205"/>
          </a:xfrm>
          <a:prstGeom prst="rect">
            <a:avLst/>
          </a:prstGeom>
          <a:noFill/>
        </p:spPr>
        <p:txBody>
          <a:bodyPr wrap="square" rtlCol="0">
            <a:spAutoFit/>
          </a:bodyPr>
          <a:lstStyle/>
          <a:p>
            <a:pPr marL="285750" indent="-285750">
              <a:buFont typeface="Arial" panose="020B0604020202020204" pitchFamily="34" charset="0"/>
              <a:buChar char="•"/>
            </a:pPr>
            <a:r>
              <a:rPr lang="en-US" sz="2000" b="1" dirty="0"/>
              <a:t>Positive Trend</a:t>
            </a:r>
            <a:r>
              <a:rPr lang="en-US" sz="2000" dirty="0"/>
              <a:t>: There is a general upward trend. As the number of bedrooms increases from 1 to 5, the maximum potential price also increases.</a:t>
            </a:r>
          </a:p>
          <a:p>
            <a:endParaRPr lang="en-US" sz="2000" dirty="0"/>
          </a:p>
          <a:p>
            <a:endParaRPr lang="en-US" sz="2000" dirty="0"/>
          </a:p>
          <a:p>
            <a:pPr marL="285750" indent="-285750">
              <a:buFont typeface="Arial" panose="020B0604020202020204" pitchFamily="34" charset="0"/>
              <a:buChar char="•"/>
            </a:pPr>
            <a:r>
              <a:rPr lang="en-US" sz="2000" b="1" dirty="0"/>
              <a:t>Price Volatility</a:t>
            </a:r>
            <a:r>
              <a:rPr lang="en-US" sz="2000" dirty="0"/>
              <a:t>: Notice that for 3, 4, and 5 BHK properties, the vertical "columns" are very long. This means that having 4 bedrooms doesn't guarantee a high price; some are very cheap, while others are extremely expensive.</a:t>
            </a:r>
          </a:p>
          <a:p>
            <a:br>
              <a:rPr lang="en-US" sz="2000" dirty="0"/>
            </a:br>
            <a:endParaRPr lang="en-IN" sz="2000" dirty="0"/>
          </a:p>
        </p:txBody>
      </p:sp>
    </p:spTree>
    <p:extLst>
      <p:ext uri="{BB962C8B-B14F-4D97-AF65-F5344CB8AC3E}">
        <p14:creationId xmlns:p14="http://schemas.microsoft.com/office/powerpoint/2010/main" val="1417686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2BB60D-DF4C-5A79-75A5-E4EDAEB16D27}"/>
              </a:ext>
            </a:extLst>
          </p:cNvPr>
          <p:cNvPicPr>
            <a:picLocks noChangeAspect="1"/>
          </p:cNvPicPr>
          <p:nvPr/>
        </p:nvPicPr>
        <p:blipFill>
          <a:blip r:embed="rId2"/>
          <a:stretch>
            <a:fillRect/>
          </a:stretch>
        </p:blipFill>
        <p:spPr>
          <a:xfrm>
            <a:off x="250370" y="849085"/>
            <a:ext cx="5845629" cy="4822371"/>
          </a:xfrm>
          <a:prstGeom prst="rect">
            <a:avLst/>
          </a:prstGeom>
        </p:spPr>
      </p:pic>
      <p:sp>
        <p:nvSpPr>
          <p:cNvPr id="7" name="TextBox 6">
            <a:extLst>
              <a:ext uri="{FF2B5EF4-FFF2-40B4-BE49-F238E27FC236}">
                <a16:creationId xmlns:a16="http://schemas.microsoft.com/office/drawing/2014/main" id="{08B665B4-CD5F-F81C-6F98-C1FA5BAE3724}"/>
              </a:ext>
            </a:extLst>
          </p:cNvPr>
          <p:cNvSpPr txBox="1"/>
          <p:nvPr/>
        </p:nvSpPr>
        <p:spPr>
          <a:xfrm>
            <a:off x="6727371" y="1153886"/>
            <a:ext cx="4942115" cy="3970318"/>
          </a:xfrm>
          <a:prstGeom prst="rect">
            <a:avLst/>
          </a:prstGeom>
          <a:noFill/>
        </p:spPr>
        <p:txBody>
          <a:bodyPr wrap="square" rtlCol="0">
            <a:spAutoFit/>
          </a:bodyPr>
          <a:lstStyle/>
          <a:p>
            <a:r>
              <a:rPr lang="en-US" sz="2000" b="1" dirty="0"/>
              <a:t>Price Escalation</a:t>
            </a:r>
            <a:r>
              <a:rPr lang="en-US" sz="2000" dirty="0"/>
              <a:t>: The </a:t>
            </a:r>
            <a:r>
              <a:rPr lang="en-US" sz="2000" b="1" dirty="0"/>
              <a:t>median price</a:t>
            </a:r>
            <a:r>
              <a:rPr lang="en-US" sz="2000" dirty="0"/>
              <a:t> (the line inside each box) increases consistently from 1.0 BHK to 5.0 BHK, confirming a strong positive relationship.</a:t>
            </a:r>
          </a:p>
          <a:p>
            <a:endParaRPr lang="en-US" sz="3200" dirty="0"/>
          </a:p>
          <a:p>
            <a:r>
              <a:rPr lang="en-US" sz="2000" b="1" dirty="0"/>
              <a:t>Increasing Variance</a:t>
            </a:r>
            <a:r>
              <a:rPr lang="en-US" sz="2000" dirty="0"/>
              <a:t>: As the number of rooms increases, the "height" of the boxes (the Interquartile Range) grows. This means that while a 1 BHK price is very predictable, a 5 BHK price is highly variable.</a:t>
            </a:r>
          </a:p>
          <a:p>
            <a:endParaRPr lang="en-IN" sz="2000" dirty="0"/>
          </a:p>
        </p:txBody>
      </p:sp>
    </p:spTree>
    <p:extLst>
      <p:ext uri="{BB962C8B-B14F-4D97-AF65-F5344CB8AC3E}">
        <p14:creationId xmlns:p14="http://schemas.microsoft.com/office/powerpoint/2010/main" val="4062170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0AC211-8125-F165-BD60-59D3F096CA6F}"/>
              </a:ext>
            </a:extLst>
          </p:cNvPr>
          <p:cNvSpPr txBox="1"/>
          <p:nvPr/>
        </p:nvSpPr>
        <p:spPr>
          <a:xfrm>
            <a:off x="3668486" y="359230"/>
            <a:ext cx="4778828" cy="523220"/>
          </a:xfrm>
          <a:prstGeom prst="rect">
            <a:avLst/>
          </a:prstGeom>
          <a:noFill/>
        </p:spPr>
        <p:txBody>
          <a:bodyPr wrap="square" rtlCol="0">
            <a:spAutoFit/>
          </a:bodyPr>
          <a:lstStyle/>
          <a:p>
            <a:pPr algn="ctr"/>
            <a:r>
              <a:rPr lang="en-US" sz="2800" b="1" dirty="0">
                <a:solidFill>
                  <a:srgbClr val="FF0000"/>
                </a:solidFill>
              </a:rPr>
              <a:t>Multivariate Analysis</a:t>
            </a:r>
            <a:endParaRPr lang="en-IN" sz="2800" b="1" dirty="0">
              <a:solidFill>
                <a:srgbClr val="FF0000"/>
              </a:solidFill>
            </a:endParaRPr>
          </a:p>
        </p:txBody>
      </p:sp>
      <p:pic>
        <p:nvPicPr>
          <p:cNvPr id="4" name="Picture 3">
            <a:extLst>
              <a:ext uri="{FF2B5EF4-FFF2-40B4-BE49-F238E27FC236}">
                <a16:creationId xmlns:a16="http://schemas.microsoft.com/office/drawing/2014/main" id="{041A0163-9D29-350F-0516-A3381338764F}"/>
              </a:ext>
            </a:extLst>
          </p:cNvPr>
          <p:cNvPicPr>
            <a:picLocks noChangeAspect="1"/>
          </p:cNvPicPr>
          <p:nvPr/>
        </p:nvPicPr>
        <p:blipFill>
          <a:blip r:embed="rId2"/>
          <a:stretch>
            <a:fillRect/>
          </a:stretch>
        </p:blipFill>
        <p:spPr>
          <a:xfrm>
            <a:off x="462087" y="1045029"/>
            <a:ext cx="5535942" cy="5214257"/>
          </a:xfrm>
          <a:prstGeom prst="rect">
            <a:avLst/>
          </a:prstGeom>
        </p:spPr>
      </p:pic>
      <p:sp>
        <p:nvSpPr>
          <p:cNvPr id="5" name="TextBox 4">
            <a:extLst>
              <a:ext uri="{FF2B5EF4-FFF2-40B4-BE49-F238E27FC236}">
                <a16:creationId xmlns:a16="http://schemas.microsoft.com/office/drawing/2014/main" id="{807AB4E3-58FE-B405-7E8A-06BB47AB17AF}"/>
              </a:ext>
            </a:extLst>
          </p:cNvPr>
          <p:cNvSpPr txBox="1"/>
          <p:nvPr/>
        </p:nvSpPr>
        <p:spPr>
          <a:xfrm>
            <a:off x="6411686" y="1045029"/>
            <a:ext cx="5318227" cy="4524315"/>
          </a:xfrm>
          <a:prstGeom prst="rect">
            <a:avLst/>
          </a:prstGeom>
          <a:noFill/>
        </p:spPr>
        <p:txBody>
          <a:bodyPr wrap="square" rtlCol="0">
            <a:spAutoFit/>
          </a:bodyPr>
          <a:lstStyle/>
          <a:p>
            <a:r>
              <a:rPr lang="en-US" sz="1600" b="1" dirty="0"/>
              <a:t>Strongest Relationship (BHK vs. </a:t>
            </a:r>
            <a:r>
              <a:rPr lang="en-US" sz="1600" b="1" dirty="0" err="1"/>
              <a:t>sqft</a:t>
            </a:r>
            <a:r>
              <a:rPr lang="en-US" sz="1600" b="1" dirty="0"/>
              <a:t>: 0.57)</a:t>
            </a:r>
            <a:r>
              <a:rPr lang="en-US" sz="1600" dirty="0"/>
              <a:t>:</a:t>
            </a:r>
          </a:p>
          <a:p>
            <a:pPr lvl="1"/>
            <a:r>
              <a:rPr lang="en-US" sz="1600" dirty="0"/>
              <a:t>There is a </a:t>
            </a:r>
            <a:r>
              <a:rPr lang="en-US" sz="1600" b="1" dirty="0"/>
              <a:t>moderate-to-strong positive correlation</a:t>
            </a:r>
            <a:r>
              <a:rPr lang="en-US" sz="1600" dirty="0"/>
              <a:t> between the number of bedrooms and total area.</a:t>
            </a:r>
          </a:p>
          <a:p>
            <a:pPr lvl="1"/>
            <a:r>
              <a:rPr lang="en-US" sz="1600" dirty="0"/>
              <a:t>This is logical: as you add more bedrooms, the total square foot of the house typically increases.</a:t>
            </a:r>
          </a:p>
          <a:p>
            <a:endParaRPr lang="en-IN" sz="1600" dirty="0"/>
          </a:p>
          <a:p>
            <a:r>
              <a:rPr lang="en-US" sz="1600" b="1" dirty="0"/>
              <a:t>Price vs. BHK (0.45)</a:t>
            </a:r>
            <a:r>
              <a:rPr lang="en-US" sz="1600" dirty="0"/>
              <a:t>:</a:t>
            </a:r>
          </a:p>
          <a:p>
            <a:pPr lvl="1"/>
            <a:r>
              <a:rPr lang="en-US" sz="1600" dirty="0"/>
              <a:t>This is a </a:t>
            </a:r>
            <a:r>
              <a:rPr lang="en-US" sz="1600" b="1" dirty="0"/>
              <a:t>moderate positive correlation</a:t>
            </a:r>
            <a:r>
              <a:rPr lang="en-US" sz="1600" dirty="0"/>
              <a:t>.</a:t>
            </a:r>
          </a:p>
          <a:p>
            <a:pPr lvl="1"/>
            <a:r>
              <a:rPr lang="en-US" sz="1600" dirty="0"/>
              <a:t>It indicates that while more bedrooms generally mean a higher price, it isn't the only factor. Factors like luxury finish or location likely play a large role here as well.</a:t>
            </a:r>
          </a:p>
          <a:p>
            <a:endParaRPr lang="en-IN" sz="1600" dirty="0"/>
          </a:p>
          <a:p>
            <a:r>
              <a:rPr lang="en-US" sz="1600" b="1" dirty="0"/>
              <a:t>Price vs. </a:t>
            </a:r>
            <a:r>
              <a:rPr lang="en-US" sz="1600" b="1" dirty="0" err="1"/>
              <a:t>sqft</a:t>
            </a:r>
            <a:r>
              <a:rPr lang="en-US" sz="1600" b="1" dirty="0"/>
              <a:t> (0.38):</a:t>
            </a:r>
          </a:p>
          <a:p>
            <a:r>
              <a:rPr lang="en-US" sz="1600" dirty="0"/>
              <a:t>This is the weakest positive correlation in the matrix.</a:t>
            </a:r>
          </a:p>
          <a:p>
            <a:r>
              <a:rPr lang="en-US" sz="1600" dirty="0"/>
              <a:t>Surprisingly, in this specific dataset, the number of bedrooms (BHK) is a slightly better predictor of price than the total square footage.</a:t>
            </a:r>
            <a:endParaRPr lang="en-IN" sz="1600" dirty="0"/>
          </a:p>
        </p:txBody>
      </p:sp>
    </p:spTree>
    <p:extLst>
      <p:ext uri="{BB962C8B-B14F-4D97-AF65-F5344CB8AC3E}">
        <p14:creationId xmlns:p14="http://schemas.microsoft.com/office/powerpoint/2010/main" val="3445532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AFAC75-0675-F722-D604-E76222958300}"/>
              </a:ext>
            </a:extLst>
          </p:cNvPr>
          <p:cNvPicPr>
            <a:picLocks noChangeAspect="1"/>
          </p:cNvPicPr>
          <p:nvPr/>
        </p:nvPicPr>
        <p:blipFill>
          <a:blip r:embed="rId2"/>
          <a:srcRect/>
          <a:stretch/>
        </p:blipFill>
        <p:spPr>
          <a:xfrm>
            <a:off x="293914" y="250372"/>
            <a:ext cx="6183086" cy="6030685"/>
          </a:xfrm>
          <a:prstGeom prst="rect">
            <a:avLst/>
          </a:prstGeom>
        </p:spPr>
      </p:pic>
      <p:sp>
        <p:nvSpPr>
          <p:cNvPr id="5" name="TextBox 4">
            <a:extLst>
              <a:ext uri="{FF2B5EF4-FFF2-40B4-BE49-F238E27FC236}">
                <a16:creationId xmlns:a16="http://schemas.microsoft.com/office/drawing/2014/main" id="{C41BAFD0-B5E0-F8A8-E3DA-09A7238737D8}"/>
              </a:ext>
            </a:extLst>
          </p:cNvPr>
          <p:cNvSpPr txBox="1"/>
          <p:nvPr/>
        </p:nvSpPr>
        <p:spPr>
          <a:xfrm>
            <a:off x="6662056" y="695779"/>
            <a:ext cx="5050972" cy="5139869"/>
          </a:xfrm>
          <a:prstGeom prst="rect">
            <a:avLst/>
          </a:prstGeom>
          <a:noFill/>
        </p:spPr>
        <p:txBody>
          <a:bodyPr wrap="square" rtlCol="0">
            <a:spAutoFit/>
          </a:bodyPr>
          <a:lstStyle/>
          <a:p>
            <a:r>
              <a:rPr lang="en-US" sz="2000" b="1" dirty="0"/>
              <a:t>Distribution Overlap (Diagonal KDE Plots)</a:t>
            </a:r>
            <a:r>
              <a:rPr lang="en-US" sz="2000" dirty="0"/>
              <a:t>:</a:t>
            </a:r>
            <a:r>
              <a:rPr lang="en-US" sz="2000" b="1" dirty="0"/>
              <a:t>Price</a:t>
            </a:r>
            <a:r>
              <a:rPr lang="en-US" sz="2000" dirty="0"/>
              <a:t>: Unfurnished properties (blue) have a much higher peak at the low-price end. This suggests the "entry-level" market is almost entirely unfurnished.</a:t>
            </a:r>
          </a:p>
          <a:p>
            <a:endParaRPr lang="en-US" sz="2000" dirty="0"/>
          </a:p>
          <a:p>
            <a:r>
              <a:rPr lang="en-US" sz="2000" b="1" dirty="0" err="1"/>
              <a:t>Sqft</a:t>
            </a:r>
            <a:r>
              <a:rPr lang="en-US" sz="2000" dirty="0"/>
              <a:t>: The distributions are very similar, meaning being furnished or unfurnished doesn't strictly depend on the size of the house.</a:t>
            </a:r>
          </a:p>
          <a:p>
            <a:endParaRPr lang="en-US" sz="2000" dirty="0"/>
          </a:p>
          <a:p>
            <a:r>
              <a:rPr lang="en-US" sz="2000" b="1" dirty="0"/>
              <a:t>BHK</a:t>
            </a:r>
            <a:r>
              <a:rPr lang="en-US" sz="2000" dirty="0"/>
              <a:t>: Unfurnished properties dominate the 2, 3, and 4 BHK categories. Furnished homes are more evenly (but sparsely) spread across these types.</a:t>
            </a:r>
          </a:p>
          <a:p>
            <a:endParaRPr lang="en-IN" sz="2800" dirty="0"/>
          </a:p>
        </p:txBody>
      </p:sp>
    </p:spTree>
    <p:extLst>
      <p:ext uri="{BB962C8B-B14F-4D97-AF65-F5344CB8AC3E}">
        <p14:creationId xmlns:p14="http://schemas.microsoft.com/office/powerpoint/2010/main" val="2917306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6DB30B-83AD-9E8D-923C-6AAA9BBDB4B4}"/>
              </a:ext>
            </a:extLst>
          </p:cNvPr>
          <p:cNvSpPr txBox="1"/>
          <p:nvPr/>
        </p:nvSpPr>
        <p:spPr>
          <a:xfrm>
            <a:off x="2405743" y="587829"/>
            <a:ext cx="7500257" cy="523220"/>
          </a:xfrm>
          <a:prstGeom prst="rect">
            <a:avLst/>
          </a:prstGeom>
          <a:noFill/>
        </p:spPr>
        <p:txBody>
          <a:bodyPr wrap="square" rtlCol="0">
            <a:spAutoFit/>
          </a:bodyPr>
          <a:lstStyle/>
          <a:p>
            <a:pPr algn="ctr"/>
            <a:r>
              <a:rPr lang="en-US" sz="2800" b="1" dirty="0">
                <a:solidFill>
                  <a:srgbClr val="FF0000"/>
                </a:solidFill>
                <a:latin typeface="Times New Roman"/>
                <a:cs typeface="Times New Roman"/>
              </a:rPr>
              <a:t>Challenges Faced</a:t>
            </a:r>
            <a:endParaRPr lang="en-IN" sz="2800" b="1" dirty="0"/>
          </a:p>
        </p:txBody>
      </p:sp>
      <p:sp>
        <p:nvSpPr>
          <p:cNvPr id="3" name="TextBox 2">
            <a:extLst>
              <a:ext uri="{FF2B5EF4-FFF2-40B4-BE49-F238E27FC236}">
                <a16:creationId xmlns:a16="http://schemas.microsoft.com/office/drawing/2014/main" id="{9A97D64C-25A5-87E3-C5A3-500DC00A11E7}"/>
              </a:ext>
            </a:extLst>
          </p:cNvPr>
          <p:cNvSpPr txBox="1"/>
          <p:nvPr/>
        </p:nvSpPr>
        <p:spPr>
          <a:xfrm>
            <a:off x="1088571" y="1524000"/>
            <a:ext cx="10232572" cy="4585871"/>
          </a:xfrm>
          <a:prstGeom prst="rect">
            <a:avLst/>
          </a:prstGeom>
          <a:noFill/>
        </p:spPr>
        <p:txBody>
          <a:bodyPr wrap="square" rtlCol="0">
            <a:spAutoFit/>
          </a:bodyPr>
          <a:lstStyle/>
          <a:p>
            <a:pPr marL="285750" indent="-285750" algn="just">
              <a:buChar char="•"/>
            </a:pPr>
            <a:r>
              <a:rPr lang="en-US" sz="2400" dirty="0">
                <a:latin typeface="Arial "/>
                <a:cs typeface="Times New Roman"/>
              </a:rPr>
              <a:t>Difficulty in extracting data due to website structure during web scraping.</a:t>
            </a:r>
          </a:p>
          <a:p>
            <a:pPr algn="just"/>
            <a:endParaRPr lang="en-US" sz="2400" dirty="0">
              <a:latin typeface="Arial "/>
              <a:cs typeface="Times New Roman"/>
            </a:endParaRPr>
          </a:p>
          <a:p>
            <a:pPr marL="285750" indent="-285750" algn="just">
              <a:buChar char="•"/>
            </a:pPr>
            <a:r>
              <a:rPr lang="en-US" sz="2400" dirty="0">
                <a:latin typeface="Arial "/>
                <a:cs typeface="Times New Roman"/>
              </a:rPr>
              <a:t>Handling missing and inconsistent data values.</a:t>
            </a:r>
          </a:p>
          <a:p>
            <a:pPr marL="285750" indent="-285750" algn="just">
              <a:buChar char="•"/>
            </a:pPr>
            <a:endParaRPr lang="en-US" sz="2400" dirty="0">
              <a:latin typeface="Arial "/>
              <a:cs typeface="Times New Roman"/>
            </a:endParaRPr>
          </a:p>
          <a:p>
            <a:pPr marL="285750" indent="-285750" algn="just">
              <a:buChar char="•"/>
            </a:pPr>
            <a:r>
              <a:rPr lang="en-US" sz="2400" dirty="0">
                <a:latin typeface="Arial "/>
                <a:cs typeface="Times New Roman"/>
              </a:rPr>
              <a:t>Converting price and </a:t>
            </a:r>
            <a:r>
              <a:rPr lang="en-US" sz="2400" dirty="0" err="1">
                <a:latin typeface="Arial "/>
                <a:cs typeface="Times New Roman"/>
              </a:rPr>
              <a:t>bhk</a:t>
            </a:r>
            <a:r>
              <a:rPr lang="en-US" sz="2400" dirty="0">
                <a:latin typeface="Arial "/>
                <a:cs typeface="Times New Roman"/>
              </a:rPr>
              <a:t> data into proper numerical format.</a:t>
            </a:r>
          </a:p>
          <a:p>
            <a:pPr algn="just"/>
            <a:endParaRPr lang="en-US" sz="2400" dirty="0">
              <a:latin typeface="Arial "/>
              <a:cs typeface="Times New Roman"/>
            </a:endParaRPr>
          </a:p>
          <a:p>
            <a:pPr marL="285750" indent="-285750" algn="just">
              <a:buChar char="•"/>
            </a:pPr>
            <a:r>
              <a:rPr lang="en-US" sz="2400" dirty="0">
                <a:latin typeface="Arial "/>
                <a:cs typeface="Times New Roman"/>
              </a:rPr>
              <a:t>Managing extreme outliers in data (price).</a:t>
            </a:r>
          </a:p>
          <a:p>
            <a:pPr algn="just"/>
            <a:endParaRPr lang="en-US" sz="2800" dirty="0">
              <a:latin typeface="Arial "/>
              <a:cs typeface="Times New Roman"/>
            </a:endParaRPr>
          </a:p>
          <a:p>
            <a:pPr marL="285750" indent="-285750" algn="just">
              <a:buChar char="•"/>
            </a:pPr>
            <a:r>
              <a:rPr lang="en-US" sz="2400" dirty="0">
                <a:latin typeface="Arial "/>
                <a:cs typeface="Times New Roman"/>
              </a:rPr>
              <a:t>Identifying meaningful insights from complex multivariate relationships</a:t>
            </a:r>
          </a:p>
          <a:p>
            <a:pPr algn="just"/>
            <a:endParaRPr lang="en-US" sz="2400" dirty="0">
              <a:latin typeface="Arial "/>
              <a:cs typeface="Times New Roman"/>
            </a:endParaRPr>
          </a:p>
          <a:p>
            <a:endParaRPr lang="en-IN" sz="2400" dirty="0">
              <a:latin typeface="Arial "/>
            </a:endParaRPr>
          </a:p>
        </p:txBody>
      </p:sp>
    </p:spTree>
    <p:extLst>
      <p:ext uri="{BB962C8B-B14F-4D97-AF65-F5344CB8AC3E}">
        <p14:creationId xmlns:p14="http://schemas.microsoft.com/office/powerpoint/2010/main" val="3507109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2196AE-2D0F-61C5-B309-E044F8EB99D9}"/>
              </a:ext>
            </a:extLst>
          </p:cNvPr>
          <p:cNvSpPr txBox="1"/>
          <p:nvPr/>
        </p:nvSpPr>
        <p:spPr>
          <a:xfrm>
            <a:off x="0" y="489857"/>
            <a:ext cx="1219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Conclusion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0558F62-A533-5D15-AD1E-CBDB7A98CA71}"/>
              </a:ext>
            </a:extLst>
          </p:cNvPr>
          <p:cNvSpPr txBox="1"/>
          <p:nvPr/>
        </p:nvSpPr>
        <p:spPr>
          <a:xfrm>
            <a:off x="1763485" y="751467"/>
            <a:ext cx="9329057" cy="6740307"/>
          </a:xfrm>
          <a:prstGeom prst="rect">
            <a:avLst/>
          </a:prstGeom>
          <a:noFill/>
        </p:spPr>
        <p:txBody>
          <a:bodyPr wrap="square" rtlCol="0">
            <a:spAutoFit/>
          </a:bodyPr>
          <a:lstStyle/>
          <a:p>
            <a:endParaRPr lang="en-US" sz="2400" dirty="0"/>
          </a:p>
          <a:p>
            <a:endParaRPr lang="en-US" sz="2400" dirty="0"/>
          </a:p>
          <a:p>
            <a:r>
              <a:rPr lang="en-US" sz="2400" dirty="0"/>
              <a:t>While factors like furnishing status and square footage are usually important.</a:t>
            </a:r>
          </a:p>
          <a:p>
            <a:endParaRPr lang="en-US" sz="2400" dirty="0"/>
          </a:p>
          <a:p>
            <a:r>
              <a:rPr lang="en-US" sz="2400" dirty="0"/>
              <a:t> this dataset shows they are not reliable predictors of property prices.</a:t>
            </a:r>
          </a:p>
          <a:p>
            <a:endParaRPr lang="en-US" sz="2400" dirty="0"/>
          </a:p>
          <a:p>
            <a:r>
              <a:rPr lang="en-US" sz="2400" dirty="0"/>
              <a:t>There is a slight positive relationship between the number of bedrooms (BHK) and the cost, but the high level of price variation makes it impossible to accurately predict values based on these features alone.</a:t>
            </a:r>
          </a:p>
          <a:p>
            <a:br>
              <a:rPr lang="en-US" sz="2400" dirty="0"/>
            </a:br>
            <a:endParaRPr lang="en-US" sz="2400" dirty="0"/>
          </a:p>
          <a:p>
            <a:br>
              <a:rPr lang="en-US" sz="2400" dirty="0"/>
            </a:br>
            <a:endParaRPr lang="en-US" sz="2400" dirty="0"/>
          </a:p>
          <a:p>
            <a:endParaRPr lang="en-US" sz="2400" dirty="0"/>
          </a:p>
          <a:p>
            <a:endParaRPr lang="en-IN" sz="2400" dirty="0"/>
          </a:p>
        </p:txBody>
      </p:sp>
    </p:spTree>
    <p:extLst>
      <p:ext uri="{BB962C8B-B14F-4D97-AF65-F5344CB8AC3E}">
        <p14:creationId xmlns:p14="http://schemas.microsoft.com/office/powerpoint/2010/main" val="9257237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1834</Words>
  <Application>Microsoft Office PowerPoint</Application>
  <PresentationFormat>Widescreen</PresentationFormat>
  <Paragraphs>253</Paragraphs>
  <Slides>27</Slides>
  <Notes>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Google Sans</vt:lpstr>
      <vt:lpstr>Arial</vt:lpstr>
      <vt:lpstr>Libre Baskerville</vt:lpstr>
      <vt:lpstr>Times New Roman</vt:lpstr>
      <vt:lpstr>Arial </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Pranshu pardesi</cp:lastModifiedBy>
  <cp:revision>9</cp:revision>
  <dcterms:created xsi:type="dcterms:W3CDTF">2021-02-16T05:19:01Z</dcterms:created>
  <dcterms:modified xsi:type="dcterms:W3CDTF">2026-04-30T13:44:51Z</dcterms:modified>
</cp:coreProperties>
</file>